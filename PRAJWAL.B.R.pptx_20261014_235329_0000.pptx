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alibri (MS) Bold" charset="1" panose="020F0702030404030204"/>
      <p:regular r:id="rId26"/>
    </p:embeddedFont>
    <p:embeddedFont>
      <p:font typeface="Calibri (MS) Bold Italics" charset="1" panose="020F07020304040A0204"/>
      <p:regular r:id="rId27"/>
    </p:embeddedFont>
    <p:embeddedFont>
      <p:font typeface="Arial" charset="1" panose="020B0604020202020204"/>
      <p:regular r:id="rId31"/>
    </p:embeddedFont>
    <p:embeddedFont>
      <p:font typeface="Arial Bold" charset="1" panose="020B0704020202020204"/>
      <p:regular r:id="rId32"/>
    </p:embeddedFont>
    <p:embeddedFont>
      <p:font typeface="Times New Roman Bold" charset="1" panose="02020803070505020304"/>
      <p:regular r:id="rId38"/>
    </p:embeddedFont>
    <p:embeddedFont>
      <p:font typeface="Times New Roman" charset="1" panose="02020603050405020304"/>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fonts/font38.fntdata" Type="http://schemas.openxmlformats.org/officeDocument/2006/relationships/font"/><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fonts/font43.fntdata" Type="http://schemas.openxmlformats.org/officeDocument/2006/relationships/font"/><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notesSlides/notesSlide16.xml" Type="http://schemas.openxmlformats.org/officeDocument/2006/relationships/notesSlide"/><Relationship Id="rId5" Target="tableStyles.xml" Type="http://schemas.openxmlformats.org/officeDocument/2006/relationships/tableStyles"/><Relationship Id="rId50" Target="notesSlides/notesSlide17.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https://github.com/PRAJUGOWDRU/AgroMind-AI-Smart-Farming" TargetMode="External" Type="http://schemas.openxmlformats.org/officeDocument/2006/relationships/hyperlink"/></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7775" y="2564606"/>
            <a:ext cx="15773400" cy="4279106"/>
            <a:chOff x="0" y="0"/>
            <a:chExt cx="21031200" cy="5705475"/>
          </a:xfrm>
        </p:grpSpPr>
        <p:sp>
          <p:nvSpPr>
            <p:cNvPr name="Freeform 3" id="3"/>
            <p:cNvSpPr/>
            <p:nvPr/>
          </p:nvSpPr>
          <p:spPr>
            <a:xfrm flipH="false" flipV="false" rot="0">
              <a:off x="0" y="0"/>
              <a:ext cx="21031200" cy="5705474"/>
            </a:xfrm>
            <a:custGeom>
              <a:avLst/>
              <a:gdLst/>
              <a:ahLst/>
              <a:cxnLst/>
              <a:rect r="r" b="b" t="t" l="l"/>
              <a:pathLst>
                <a:path h="5705474" w="21031200">
                  <a:moveTo>
                    <a:pt x="0" y="0"/>
                  </a:moveTo>
                  <a:lnTo>
                    <a:pt x="21031200" y="0"/>
                  </a:lnTo>
                  <a:lnTo>
                    <a:pt x="21031200" y="5705474"/>
                  </a:lnTo>
                  <a:lnTo>
                    <a:pt x="0" y="5705474"/>
                  </a:lnTo>
                  <a:close/>
                </a:path>
              </a:pathLst>
            </a:custGeom>
            <a:blipFill>
              <a:blip r:embed="rId2">
                <a:alphaModFix amt="0"/>
              </a:blip>
              <a:stretch>
                <a:fillRect l="0" t="-21824" r="0" b="-21824"/>
              </a:stretch>
            </a:blipFill>
          </p:spPr>
        </p:sp>
        <p:sp>
          <p:nvSpPr>
            <p:cNvPr name="TextBox 4" id="4"/>
            <p:cNvSpPr txBox="true"/>
            <p:nvPr/>
          </p:nvSpPr>
          <p:spPr>
            <a:xfrm>
              <a:off x="0" y="-95250"/>
              <a:ext cx="21031200" cy="5800725"/>
            </a:xfrm>
            <a:prstGeom prst="rect">
              <a:avLst/>
            </a:prstGeom>
          </p:spPr>
          <p:txBody>
            <a:bodyPr anchor="b" rtlCol="false" tIns="0" lIns="0" bIns="0" rIns="0"/>
            <a:lstStyle/>
            <a:p>
              <a:pPr algn="ctr">
                <a:lnSpc>
                  <a:spcPts val="10692"/>
                </a:lnSpc>
              </a:pPr>
              <a:r>
                <a:rPr lang="en-US" sz="9900" b="true">
                  <a:solidFill>
                    <a:srgbClr val="000000"/>
                  </a:solidFill>
                  <a:latin typeface="Calibri (MS) Bold"/>
                  <a:ea typeface="Calibri (MS) Bold"/>
                  <a:cs typeface="Calibri (MS) Bold"/>
                  <a:sym typeface="Calibri (MS) Bold"/>
                </a:rPr>
                <a:t>IBM University Engagement Project Submission</a:t>
              </a:r>
            </a:p>
            <a:p>
              <a:pPr algn="ctr">
                <a:lnSpc>
                  <a:spcPts val="10692"/>
                </a:lnSpc>
              </a:pPr>
            </a:p>
          </p:txBody>
        </p:sp>
      </p:grpSp>
      <p:sp>
        <p:nvSpPr>
          <p:cNvPr name="TextBox 5" id="5"/>
          <p:cNvSpPr txBox="true"/>
          <p:nvPr/>
        </p:nvSpPr>
        <p:spPr>
          <a:xfrm rot="0">
            <a:off x="1613516" y="5882145"/>
            <a:ext cx="15590549" cy="2177929"/>
          </a:xfrm>
          <a:prstGeom prst="rect">
            <a:avLst/>
          </a:prstGeom>
        </p:spPr>
        <p:txBody>
          <a:bodyPr anchor="t" rtlCol="false" tIns="0" lIns="0" bIns="0" rIns="0">
            <a:spAutoFit/>
          </a:bodyPr>
          <a:lstStyle/>
          <a:p>
            <a:pPr algn="ctr">
              <a:lnSpc>
                <a:spcPts val="3888"/>
              </a:lnSpc>
            </a:pPr>
            <a:r>
              <a:rPr lang="en-US" b="true" sz="3600" i="true">
                <a:solidFill>
                  <a:srgbClr val="888888"/>
                </a:solidFill>
                <a:latin typeface="Calibri (MS) Bold Italics"/>
                <a:ea typeface="Calibri (MS) Bold Italics"/>
                <a:cs typeface="Calibri (MS) Bold Italics"/>
                <a:sym typeface="Calibri (MS) Bold Italics"/>
              </a:rPr>
              <a:t>“Exploring the Power of Agentic AI with IBM Granite and IBM Bob”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948886" y="3900473"/>
          <a:ext cx="14363700" cy="3238500"/>
        </p:xfrm>
        <a:graphic>
          <a:graphicData uri="http://schemas.openxmlformats.org/drawingml/2006/table">
            <a:tbl>
              <a:tblPr/>
              <a:tblGrid>
                <a:gridCol w="3161455"/>
                <a:gridCol w="3734082"/>
                <a:gridCol w="3734082"/>
                <a:gridCol w="3734082"/>
              </a:tblGrid>
              <a:tr h="1461764">
                <a:tc>
                  <a:txBody>
                    <a:bodyPr anchor="t" rtlCol="false"/>
                    <a:lstStyle/>
                    <a:p>
                      <a:pPr algn="ctr">
                        <a:lnSpc>
                          <a:spcPts val="3240"/>
                        </a:lnSpc>
                        <a:defRPr/>
                      </a:pPr>
                      <a:r>
                        <a:rPr lang="en-US" sz="2700">
                          <a:solidFill>
                            <a:srgbClr val="000000"/>
                          </a:solidFill>
                          <a:latin typeface="Arial"/>
                          <a:ea typeface="Arial"/>
                          <a:cs typeface="Arial"/>
                          <a:sym typeface="Arial"/>
                        </a:rPr>
                        <a:t>Student Name</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Recent Passport Photo</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Email ID </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Mobile number</a:t>
                      </a:r>
                      <a:endParaRPr lang="en-US" sz="1100"/>
                    </a:p>
                    <a:p>
                      <a:pPr algn="ctr">
                        <a:lnSpc>
                          <a:spcPts val="3240"/>
                        </a:lnSpc>
                      </a:pPr>
                      <a:r>
                        <a:rPr lang="en-US" sz="2700">
                          <a:solidFill>
                            <a:srgbClr val="000000"/>
                          </a:solidFill>
                          <a:latin typeface="Arial"/>
                          <a:ea typeface="Arial"/>
                          <a:cs typeface="Arial"/>
                          <a:sym typeface="Arial"/>
                        </a:rPr>
                        <a:t>[WhatsApp] </a:t>
                      </a:r>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r>
              <a:tr h="1776736">
                <a:tc>
                  <a:txBody>
                    <a:bodyPr anchor="t" rtlCol="false"/>
                    <a:lstStyle/>
                    <a:p>
                      <a:pPr algn="ctr">
                        <a:lnSpc>
                          <a:spcPts val="2520"/>
                        </a:lnSpc>
                        <a:defRPr/>
                      </a:pPr>
                      <a:endParaRPr lang="en-US" sz="1100"/>
                    </a:p>
                    <a:p>
                      <a:pPr algn="ctr">
                        <a:lnSpc>
                          <a:spcPts val="2520"/>
                        </a:lnSpc>
                      </a:pPr>
                    </a:p>
                    <a:p>
                      <a:pPr algn="ctr">
                        <a:lnSpc>
                          <a:spcPts val="2520"/>
                        </a:lnSpc>
                      </a:pPr>
                      <a:r>
                        <a:rPr lang="en-US" sz="2100">
                          <a:solidFill>
                            <a:srgbClr val="000000"/>
                          </a:solidFill>
                          <a:latin typeface="Arial"/>
                          <a:ea typeface="Arial"/>
                          <a:cs typeface="Arial"/>
                          <a:sym typeface="Arial"/>
                        </a:rPr>
                        <a:t>PRAJWAL.B.R</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1679"/>
                        </a:lnSpc>
                        <a:defRPr/>
                      </a:pP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2520"/>
                        </a:lnSpc>
                        <a:defRPr/>
                      </a:pPr>
                      <a:endParaRPr lang="en-US" sz="1100"/>
                    </a:p>
                    <a:p>
                      <a:pPr algn="l">
                        <a:lnSpc>
                          <a:spcPts val="2520"/>
                        </a:lnSpc>
                      </a:pPr>
                    </a:p>
                    <a:p>
                      <a:pPr algn="l">
                        <a:lnSpc>
                          <a:spcPts val="2520"/>
                        </a:lnSpc>
                      </a:pPr>
                      <a:r>
                        <a:rPr lang="en-US" sz="2100">
                          <a:solidFill>
                            <a:srgbClr val="000000"/>
                          </a:solidFill>
                          <a:latin typeface="Arial"/>
                          <a:ea typeface="Arial"/>
                          <a:cs typeface="Arial"/>
                          <a:sym typeface="Arial"/>
                        </a:rPr>
                        <a:t>prajugowda8050@gmail.com</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2520"/>
                        </a:lnSpc>
                        <a:defRPr/>
                      </a:pPr>
                      <a:endParaRPr lang="en-US" sz="1100"/>
                    </a:p>
                    <a:p>
                      <a:pPr algn="l">
                        <a:lnSpc>
                          <a:spcPts val="2520"/>
                        </a:lnSpc>
                      </a:pPr>
                    </a:p>
                    <a:p>
                      <a:pPr algn="l">
                        <a:lnSpc>
                          <a:spcPts val="2520"/>
                        </a:lnSpc>
                      </a:pPr>
                      <a:r>
                        <a:rPr lang="en-US" sz="2100">
                          <a:solidFill>
                            <a:srgbClr val="000000"/>
                          </a:solidFill>
                          <a:latin typeface="Arial"/>
                          <a:ea typeface="Arial"/>
                          <a:cs typeface="Arial"/>
                          <a:sym typeface="Arial"/>
                        </a:rPr>
                        <a:t>8867414268</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bl>
          </a:graphicData>
        </a:graphic>
      </p:graphicFrame>
      <p:grpSp>
        <p:nvGrpSpPr>
          <p:cNvPr name="Group 3" id="3"/>
          <p:cNvGrpSpPr/>
          <p:nvPr/>
        </p:nvGrpSpPr>
        <p:grpSpPr>
          <a:xfrm rot="0">
            <a:off x="6176020" y="5607625"/>
            <a:ext cx="950776" cy="1202712"/>
            <a:chOff x="0" y="0"/>
            <a:chExt cx="1267701" cy="1603616"/>
          </a:xfrm>
        </p:grpSpPr>
        <p:sp>
          <p:nvSpPr>
            <p:cNvPr name="Freeform 4" id="4"/>
            <p:cNvSpPr/>
            <p:nvPr/>
          </p:nvSpPr>
          <p:spPr>
            <a:xfrm flipH="false" flipV="false" rot="0">
              <a:off x="0" y="0"/>
              <a:ext cx="1267714" cy="1603629"/>
            </a:xfrm>
            <a:custGeom>
              <a:avLst/>
              <a:gdLst/>
              <a:ahLst/>
              <a:cxnLst/>
              <a:rect r="r" b="b" t="t" l="l"/>
              <a:pathLst>
                <a:path h="1603629" w="1267714">
                  <a:moveTo>
                    <a:pt x="0" y="0"/>
                  </a:moveTo>
                  <a:lnTo>
                    <a:pt x="1267714" y="0"/>
                  </a:lnTo>
                  <a:lnTo>
                    <a:pt x="1267714" y="1603629"/>
                  </a:lnTo>
                  <a:lnTo>
                    <a:pt x="0" y="1603629"/>
                  </a:lnTo>
                  <a:lnTo>
                    <a:pt x="0" y="0"/>
                  </a:lnTo>
                  <a:close/>
                </a:path>
              </a:pathLst>
            </a:custGeom>
            <a:blipFill>
              <a:blip r:embed="rId3"/>
              <a:stretch>
                <a:fillRect l="0" t="0" r="1" b="0"/>
              </a:stretch>
            </a:blipFill>
          </p:spPr>
        </p:sp>
      </p:grpSp>
      <p:sp>
        <p:nvSpPr>
          <p:cNvPr name="TextBox 5" id="5"/>
          <p:cNvSpPr txBox="true"/>
          <p:nvPr/>
        </p:nvSpPr>
        <p:spPr>
          <a:xfrm rot="0">
            <a:off x="1926088" y="2208228"/>
            <a:ext cx="1523750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Domain of  Project – Agriculture </a:t>
            </a:r>
          </a:p>
        </p:txBody>
      </p:sp>
      <p:sp>
        <p:nvSpPr>
          <p:cNvPr name="TextBox 6" id="6"/>
          <p:cNvSpPr txBox="true"/>
          <p:nvPr/>
        </p:nvSpPr>
        <p:spPr>
          <a:xfrm rot="0">
            <a:off x="1926088" y="870490"/>
            <a:ext cx="14188888"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Project Tile – </a:t>
            </a:r>
            <a:r>
              <a:rPr lang="en-US" sz="3600">
                <a:solidFill>
                  <a:srgbClr val="000000"/>
                </a:solidFill>
                <a:latin typeface="Arial"/>
                <a:ea typeface="Arial"/>
                <a:cs typeface="Arial"/>
                <a:sym typeface="Arial"/>
              </a:rPr>
              <a:t>AI Agent for Smart Farming Advice </a:t>
            </a:r>
            <a:r>
              <a:rPr lang="en-US" sz="3600" b="true">
                <a:solidFill>
                  <a:srgbClr val="000000"/>
                </a:solidFill>
                <a:latin typeface="Arial Bold"/>
                <a:ea typeface="Arial Bold"/>
                <a:cs typeface="Arial Bold"/>
                <a:sym typeface="Arial Bold"/>
              </a:rPr>
              <a:t> </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55548" y="1887855"/>
            <a:ext cx="15727680" cy="6843055"/>
          </a:xfrm>
          <a:prstGeom prst="rect">
            <a:avLst/>
          </a:prstGeom>
        </p:spPr>
        <p:txBody>
          <a:bodyPr anchor="t" rtlCol="false" tIns="0" lIns="0" bIns="0" rIns="0">
            <a:spAutoFit/>
          </a:bodyPr>
          <a:lstStyle/>
          <a:p>
            <a:pPr algn="l">
              <a:lnSpc>
                <a:spcPts val="2520"/>
              </a:lnSpc>
            </a:pPr>
            <a:r>
              <a:rPr lang="en-US" sz="2100" b="true">
                <a:solidFill>
                  <a:srgbClr val="000000"/>
                </a:solidFill>
                <a:latin typeface="Arial Bold"/>
                <a:ea typeface="Arial Bold"/>
                <a:cs typeface="Arial Bold"/>
                <a:sym typeface="Arial Bold"/>
              </a:rPr>
              <a:t>Problem Statement : </a:t>
            </a:r>
            <a:r>
              <a:rPr lang="en-US" sz="2100">
                <a:solidFill>
                  <a:srgbClr val="000000"/>
                </a:solidFill>
                <a:latin typeface="Arial"/>
                <a:ea typeface="Arial"/>
                <a:cs typeface="Arial"/>
                <a:sym typeface="Arial"/>
              </a:rPr>
              <a:t>AI Agent for Smart Farming Advice </a:t>
            </a:r>
          </a:p>
          <a:p>
            <a:pPr algn="l">
              <a:lnSpc>
                <a:spcPts val="2520"/>
              </a:lnSpc>
            </a:pPr>
            <a:r>
              <a:rPr lang="en-US" sz="2100" b="true">
                <a:solidFill>
                  <a:srgbClr val="000000"/>
                </a:solidFill>
                <a:latin typeface="Arial Bold"/>
                <a:ea typeface="Arial Bold"/>
                <a:cs typeface="Arial Bold"/>
                <a:sym typeface="Arial Bold"/>
              </a:rPr>
              <a:t>The Challenge</a:t>
            </a:r>
            <a:r>
              <a:rPr lang="en-US" sz="2100">
                <a:solidFill>
                  <a:srgbClr val="000000"/>
                </a:solidFill>
                <a:latin typeface="Arial"/>
                <a:ea typeface="Arial"/>
                <a:cs typeface="Arial"/>
                <a:sym typeface="Arial"/>
              </a:rPr>
              <a:t> </a:t>
            </a:r>
          </a:p>
          <a:p>
            <a:pPr algn="l">
              <a:lnSpc>
                <a:spcPts val="2520"/>
              </a:lnSpc>
            </a:pPr>
            <a:r>
              <a:rPr lang="en-US" sz="2100">
                <a:solidFill>
                  <a:srgbClr val="000000"/>
                </a:solidFill>
                <a:latin typeface="Arial"/>
                <a:ea typeface="Arial"/>
                <a:cs typeface="Arial"/>
                <a:sym typeface="Arial"/>
              </a:rPr>
              <a:t>Farmers often struggle with low crop yield, unpredictable weather, pest infestations, and limited access to timely expert advice. Traditional farming advisory services are fragmented, slow, and not personalized to the farmer’s specific land, crop, or climate conditions. With the rise of climate change, data-driven smart farming solutions are needed to empower farmers with actionable insights.</a:t>
            </a:r>
          </a:p>
          <a:p>
            <a:pPr algn="l">
              <a:lnSpc>
                <a:spcPts val="2520"/>
              </a:lnSpc>
            </a:pPr>
          </a:p>
          <a:p>
            <a:pPr algn="l">
              <a:lnSpc>
                <a:spcPts val="2520"/>
              </a:lnSpc>
            </a:pPr>
            <a:r>
              <a:rPr lang="en-US" sz="2100" b="true">
                <a:solidFill>
                  <a:srgbClr val="000000"/>
                </a:solidFill>
                <a:latin typeface="Arial Bold"/>
                <a:ea typeface="Arial Bold"/>
                <a:cs typeface="Arial Bold"/>
                <a:sym typeface="Arial Bold"/>
              </a:rPr>
              <a:t>The Objective</a:t>
            </a:r>
            <a:r>
              <a:rPr lang="en-US" sz="2100">
                <a:solidFill>
                  <a:srgbClr val="000000"/>
                </a:solidFill>
                <a:latin typeface="Arial"/>
                <a:ea typeface="Arial"/>
                <a:cs typeface="Arial"/>
                <a:sym typeface="Arial"/>
              </a:rPr>
              <a:t> </a:t>
            </a:r>
          </a:p>
          <a:p>
            <a:pPr algn="l">
              <a:lnSpc>
                <a:spcPts val="2520"/>
              </a:lnSpc>
            </a:pPr>
            <a:r>
              <a:rPr lang="en-US" sz="2100">
                <a:solidFill>
                  <a:srgbClr val="000000"/>
                </a:solidFill>
                <a:latin typeface="Arial"/>
                <a:ea typeface="Arial"/>
                <a:cs typeface="Arial"/>
                <a:sym typeface="Arial"/>
              </a:rPr>
              <a:t>The Objective Develop an AI-powered Smart Farming Agent that provides personalized, real-time, and sustainable agricultural advice. The solution should:</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Agricultural Knowledge Retrieval (RAG) </a:t>
            </a:r>
            <a:r>
              <a:rPr lang="en-US" sz="2100">
                <a:solidFill>
                  <a:srgbClr val="000000"/>
                </a:solidFill>
                <a:latin typeface="Arial"/>
                <a:ea typeface="Arial"/>
                <a:cs typeface="Arial"/>
                <a:sym typeface="Arial"/>
              </a:rPr>
              <a:t>– Use Retrieval-Augmented Generation to fetch best practices, crop-specific guidelines, and government advisory updates.</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Weather &amp; Soil Insights </a:t>
            </a:r>
            <a:r>
              <a:rPr lang="en-US" sz="2100">
                <a:solidFill>
                  <a:srgbClr val="000000"/>
                </a:solidFill>
                <a:latin typeface="Arial"/>
                <a:ea typeface="Arial"/>
                <a:cs typeface="Arial"/>
                <a:sym typeface="Arial"/>
              </a:rPr>
              <a:t>– Integrate real-time weather forecasts, soil health data, and irrigation needs to optimize farm planning.</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Pest &amp; Disease Detection </a:t>
            </a:r>
            <a:r>
              <a:rPr lang="en-US" sz="2100">
                <a:solidFill>
                  <a:srgbClr val="000000"/>
                </a:solidFill>
                <a:latin typeface="Arial"/>
                <a:ea typeface="Arial"/>
                <a:cs typeface="Arial"/>
                <a:sym typeface="Arial"/>
              </a:rPr>
              <a:t>– Enable multimodal support where farmers upload crop images for early pest/disease identification and get instant recommendations.</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Personalized Advisory Agent </a:t>
            </a:r>
            <a:r>
              <a:rPr lang="en-US" sz="2100">
                <a:solidFill>
                  <a:srgbClr val="000000"/>
                </a:solidFill>
                <a:latin typeface="Arial"/>
                <a:ea typeface="Arial"/>
                <a:cs typeface="Arial"/>
                <a:sym typeface="Arial"/>
              </a:rPr>
              <a:t>– Suggest seeds, fertilizers, irrigation schedules, and harvesting timelines based on farmer profile and land conditions.</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Market &amp; Cost Optimization </a:t>
            </a:r>
            <a:r>
              <a:rPr lang="en-US" sz="2100">
                <a:solidFill>
                  <a:srgbClr val="000000"/>
                </a:solidFill>
                <a:latin typeface="Arial"/>
                <a:ea typeface="Arial"/>
                <a:cs typeface="Arial"/>
                <a:sym typeface="Arial"/>
              </a:rPr>
              <a:t>– Forecast demand, suggest market prices, and recommend cost-efficient practices for better income.</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Multi-Agent Collaboration </a:t>
            </a:r>
            <a:r>
              <a:rPr lang="en-US" sz="2100">
                <a:solidFill>
                  <a:srgbClr val="000000"/>
                </a:solidFill>
                <a:latin typeface="Arial"/>
                <a:ea typeface="Arial"/>
                <a:cs typeface="Arial"/>
                <a:sym typeface="Arial"/>
              </a:rPr>
              <a:t>– o Crop Advisory Agent o Weather &amp; Irrigation Agent o Pest/Disease Detection Agent o Market Insights Agent</a:t>
            </a:r>
          </a:p>
        </p:txBody>
      </p:sp>
      <p:sp>
        <p:nvSpPr>
          <p:cNvPr name="TextBox 3" id="3"/>
          <p:cNvSpPr txBox="true"/>
          <p:nvPr/>
        </p:nvSpPr>
        <p:spPr>
          <a:xfrm rot="0">
            <a:off x="955548" y="1073277"/>
            <a:ext cx="13113515"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Problem Statement -</a:t>
            </a:r>
            <a:r>
              <a:rPr lang="en-US" sz="3600">
                <a:solidFill>
                  <a:srgbClr val="000000"/>
                </a:solidFill>
                <a:latin typeface="Arial"/>
                <a:ea typeface="Arial"/>
                <a:cs typeface="Arial"/>
                <a:sym typeface="Arial"/>
              </a:rPr>
              <a:t> AI Agent for Smart Farming Advice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26998" y="1196997"/>
            <a:ext cx="15727680" cy="8782050"/>
          </a:xfrm>
          <a:prstGeom prst="rect">
            <a:avLst/>
          </a:prstGeom>
        </p:spPr>
        <p:txBody>
          <a:bodyPr anchor="t" rtlCol="false" tIns="0" lIns="0" bIns="0" rIns="0">
            <a:spAutoFit/>
          </a:bodyPr>
          <a:lstStyle/>
          <a:p>
            <a:pPr algn="l">
              <a:lnSpc>
                <a:spcPts val="2520"/>
              </a:lnSpc>
            </a:pPr>
            <a:r>
              <a:rPr lang="en-US" sz="2100" b="true">
                <a:solidFill>
                  <a:srgbClr val="000000"/>
                </a:solidFill>
                <a:latin typeface="Arial Bold"/>
                <a:ea typeface="Arial Bold"/>
                <a:cs typeface="Arial Bold"/>
                <a:sym typeface="Arial Bold"/>
              </a:rPr>
              <a:t>Proposed Solution – AgroMind AI: An Intelligent Smart Farming Advisory Agent</a:t>
            </a:r>
          </a:p>
          <a:p>
            <a:pPr algn="l">
              <a:lnSpc>
                <a:spcPts val="2520"/>
              </a:lnSpc>
            </a:pPr>
            <a:r>
              <a:rPr lang="en-US" sz="2100">
                <a:solidFill>
                  <a:srgbClr val="000000"/>
                </a:solidFill>
                <a:latin typeface="Arial"/>
                <a:ea typeface="Arial"/>
                <a:cs typeface="Arial"/>
                <a:sym typeface="Arial"/>
              </a:rPr>
              <a:t>Now audit the AgroMind AI project you just built. Do not redesign everything or replace working code without a reason.</a:t>
            </a:r>
          </a:p>
          <a:p>
            <a:pPr algn="l">
              <a:lnSpc>
                <a:spcPts val="2520"/>
              </a:lnSpc>
            </a:pPr>
            <a:r>
              <a:rPr lang="en-US" sz="2100">
                <a:solidFill>
                  <a:srgbClr val="000000"/>
                </a:solidFill>
                <a:latin typeface="Arial"/>
                <a:ea typeface="Arial"/>
                <a:cs typeface="Arial"/>
                <a:sym typeface="Arial"/>
              </a:rPr>
              <a:t>Inspect the actual files and compare the implementation against the original problem statement, including agricultural RAG, weather and soil insights, pest and disease detection, personalized crop advice, market optimization, and multi-agent collaboration.</a:t>
            </a:r>
          </a:p>
          <a:p>
            <a:pPr algn="l">
              <a:lnSpc>
                <a:spcPts val="2520"/>
              </a:lnSpc>
            </a:pPr>
            <a:r>
              <a:rPr lang="en-US" sz="2100">
                <a:solidFill>
                  <a:srgbClr val="000000"/>
                </a:solidFill>
                <a:latin typeface="Arial"/>
                <a:ea typeface="Arial"/>
                <a:cs typeface="Arial"/>
                <a:sym typeface="Arial"/>
              </a:rPr>
              <a:t>Run the backend and frontend using the available environment.</a:t>
            </a:r>
          </a:p>
          <a:p>
            <a:pPr algn="l">
              <a:lnSpc>
                <a:spcPts val="2520"/>
              </a:lnSpc>
            </a:pPr>
            <a:r>
              <a:rPr lang="en-US" sz="2100">
                <a:solidFill>
                  <a:srgbClr val="000000"/>
                </a:solidFill>
                <a:latin typeface="Arial"/>
                <a:ea typeface="Arial"/>
                <a:cs typeface="Arial"/>
                <a:sym typeface="Arial"/>
              </a:rPr>
              <a:t>Execute the tests and frontend production build. Identify and fix actual errors.</a:t>
            </a:r>
          </a:p>
          <a:p>
            <a:pPr algn="l">
              <a:lnSpc>
                <a:spcPts val="2520"/>
              </a:lnSpc>
            </a:pPr>
            <a:r>
              <a:rPr lang="en-US" sz="2100">
                <a:solidFill>
                  <a:srgbClr val="000000"/>
                </a:solidFill>
                <a:latin typeface="Arial"/>
                <a:ea typeface="Arial"/>
                <a:cs typeface="Arial"/>
                <a:sym typeface="Arial"/>
              </a:rPr>
              <a:t>Verify that IBM Granite is called through the configured IBM watsonx.ai service and that LangFlow or the selected mandatory IBM-compatible agentic approach is genuinely integrated.</a:t>
            </a:r>
          </a:p>
          <a:p>
            <a:pPr algn="l">
              <a:lnSpc>
                <a:spcPts val="2520"/>
              </a:lnSpc>
            </a:pPr>
            <a:r>
              <a:rPr lang="en-US" sz="2100">
                <a:solidFill>
                  <a:srgbClr val="000000"/>
                </a:solidFill>
                <a:latin typeface="Arial"/>
                <a:ea typeface="Arial"/>
                <a:cs typeface="Arial"/>
                <a:sym typeface="Arial"/>
              </a:rPr>
              <a:t>Verify that RAG retrieves relevant agricultural documents with real source metadata and traceable citations, including crop guidelines and government advisories where available.</a:t>
            </a:r>
          </a:p>
          <a:p>
            <a:pPr algn="l">
              <a:lnSpc>
                <a:spcPts val="2520"/>
              </a:lnSpc>
            </a:pPr>
            <a:r>
              <a:rPr lang="en-US" sz="2100">
                <a:solidFill>
                  <a:srgbClr val="000000"/>
                </a:solidFill>
                <a:latin typeface="Arial"/>
                <a:ea typeface="Arial"/>
                <a:cs typeface="Arial"/>
                <a:sym typeface="Arial"/>
              </a:rPr>
              <a:t>Verify that the four specialized agents—Crop Advisory, Weather &amp; Irrigation, Pest &amp; Disease Detection, and Market Insights—have separate responsibilities and work correctly through the agent orchestrator.</a:t>
            </a:r>
          </a:p>
          <a:p>
            <a:pPr algn="l">
              <a:lnSpc>
                <a:spcPts val="2520"/>
              </a:lnSpc>
            </a:pPr>
            <a:r>
              <a:rPr lang="en-US" sz="2100">
                <a:solidFill>
                  <a:srgbClr val="000000"/>
                </a:solidFill>
                <a:latin typeface="Arial"/>
                <a:ea typeface="Arial"/>
                <a:cs typeface="Arial"/>
                <a:sym typeface="Arial"/>
              </a:rPr>
              <a:t>Test crop image uploads, input validation, pest and disease analysis, farmer profile persistence, soil and weather data handling, and personalized recommendations. Clearly distinguish actual image-model inference from demo-mode or unavailable vision functionality.</a:t>
            </a:r>
          </a:p>
          <a:p>
            <a:pPr algn="l">
              <a:lnSpc>
                <a:spcPts val="2520"/>
              </a:lnSpc>
            </a:pPr>
            <a:r>
              <a:rPr lang="en-US" sz="2100">
                <a:solidFill>
                  <a:srgbClr val="000000"/>
                </a:solidFill>
                <a:latin typeface="Arial"/>
                <a:ea typeface="Arial"/>
                <a:cs typeface="Arial"/>
                <a:sym typeface="Arial"/>
              </a:rPr>
              <a:t>Verify market price information, weather forecasts, irrigation recommendations, fertilizer and seed suggestions, and harvesting guidance. Use real data sources where configured and label sample data and estimates honestly.</a:t>
            </a:r>
          </a:p>
          <a:p>
            <a:pPr algn="l">
              <a:lnSpc>
                <a:spcPts val="2520"/>
              </a:lnSpc>
            </a:pPr>
            <a:r>
              <a:rPr lang="en-US" sz="2100">
                <a:solidFill>
                  <a:srgbClr val="000000"/>
                </a:solidFill>
                <a:latin typeface="Arial"/>
                <a:ea typeface="Arial"/>
                <a:cs typeface="Arial"/>
                <a:sym typeface="Arial"/>
              </a:rPr>
              <a:t>Check API communication, error handling, loading states, demo-mode labeling, and all major frontend buttons and forms.</a:t>
            </a:r>
          </a:p>
          <a:p>
            <a:pPr algn="l">
              <a:lnSpc>
                <a:spcPts val="2520"/>
              </a:lnSpc>
            </a:pPr>
            <a:r>
              <a:rPr lang="en-US" sz="2100">
                <a:solidFill>
                  <a:srgbClr val="000000"/>
                </a:solidFill>
                <a:latin typeface="Arial"/>
                <a:ea typeface="Arial"/>
                <a:cs typeface="Arial"/>
                <a:sym typeface="Arial"/>
              </a:rPr>
              <a:t>Check for hardcoded fake live data, invented citations, unsupported agricultural claims, exposed credentials, and nonfunctional integrations.</a:t>
            </a:r>
          </a:p>
          <a:p>
            <a:pPr algn="l">
              <a:lnSpc>
                <a:spcPts val="2520"/>
              </a:lnSpc>
            </a:pPr>
            <a:r>
              <a:rPr lang="en-US" sz="2100">
                <a:solidFill>
                  <a:srgbClr val="000000"/>
                </a:solidFill>
                <a:latin typeface="Arial"/>
                <a:ea typeface="Arial"/>
                <a:cs typeface="Arial"/>
                <a:sym typeface="Arial"/>
              </a:rPr>
              <a:t>Confirm which features work without API keys and which require IBM watsonx.ai credentials, LangFlow configuration, weather or market data APIs, or a compatible vision model.</a:t>
            </a:r>
          </a:p>
          <a:p>
            <a:pPr algn="l">
              <a:lnSpc>
                <a:spcPts val="2520"/>
              </a:lnSpc>
            </a:pPr>
            <a:r>
              <a:rPr lang="en-US" sz="2100">
                <a:solidFill>
                  <a:srgbClr val="000000"/>
                </a:solidFill>
                <a:latin typeface="Arial"/>
                <a:ea typeface="Arial"/>
                <a:cs typeface="Arial"/>
                <a:sym typeface="Arial"/>
              </a:rPr>
              <a:t>Update the README with exact installation, environment configuration, startup, testing, and deployment commands suitable for a beginner.</a:t>
            </a:r>
          </a:p>
          <a:p>
            <a:pPr algn="l">
              <a:lnSpc>
                <a:spcPts val="2520"/>
              </a:lnSpc>
            </a:pPr>
            <a:r>
              <a:rPr lang="en-US" sz="2100">
                <a:solidFill>
                  <a:srgbClr val="000000"/>
                </a:solidFill>
                <a:latin typeface="Arial"/>
                <a:ea typeface="Arial"/>
                <a:cs typeface="Arial"/>
                <a:sym typeface="Arial"/>
              </a:rPr>
              <a:t>Fix the issues you can resolve directly in the workspace without unnecessarily replacing existing working code.</a:t>
            </a:r>
          </a:p>
          <a:p>
            <a:pPr algn="l">
              <a:lnSpc>
                <a:spcPts val="2520"/>
              </a:lnSpc>
            </a:pPr>
            <a:r>
              <a:rPr lang="en-US" sz="2100">
                <a:solidFill>
                  <a:srgbClr val="000000"/>
                </a:solidFill>
                <a:latin typeface="Arial"/>
                <a:ea typeface="Arial"/>
                <a:cs typeface="Arial"/>
                <a:sym typeface="Arial"/>
              </a:rPr>
              <a:t>Give me a concise final audit report covering implemented features, actual test and build results, verified integrations, unresolved issues, and the remaining work required to meet the original problem statement.</a:t>
            </a:r>
          </a:p>
        </p:txBody>
      </p:sp>
      <p:sp>
        <p:nvSpPr>
          <p:cNvPr name="TextBox 3" id="3"/>
          <p:cNvSpPr txBox="true"/>
          <p:nvPr/>
        </p:nvSpPr>
        <p:spPr>
          <a:xfrm rot="0">
            <a:off x="1126998" y="485451"/>
            <a:ext cx="1063904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Proposed Solution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744093"/>
            <a:ext cx="1050188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Technology Used</a:t>
            </a:r>
          </a:p>
        </p:txBody>
      </p:sp>
      <p:sp>
        <p:nvSpPr>
          <p:cNvPr name="TextBox 3" id="3"/>
          <p:cNvSpPr txBox="true"/>
          <p:nvPr/>
        </p:nvSpPr>
        <p:spPr>
          <a:xfrm rot="0">
            <a:off x="1257300" y="1837182"/>
            <a:ext cx="15590520" cy="8606904"/>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IBM Bob Platform</a:t>
            </a:r>
            <a:r>
              <a:rPr lang="en-US" sz="2700">
                <a:solidFill>
                  <a:srgbClr val="000000"/>
                </a:solidFill>
                <a:latin typeface="Arial"/>
                <a:ea typeface="Arial"/>
                <a:cs typeface="Arial"/>
                <a:sym typeface="Arial"/>
              </a:rPr>
              <a:t> – For designing and orchestrating multi-agent workflows visually.</a:t>
            </a:r>
          </a:p>
          <a:p>
            <a:pPr algn="l">
              <a:lnSpc>
                <a:spcPts val="3240"/>
              </a:lnSpc>
            </a:pP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IBM Granite Model</a:t>
            </a:r>
            <a:r>
              <a:rPr lang="en-US" sz="2700">
                <a:solidFill>
                  <a:srgbClr val="000000"/>
                </a:solidFill>
                <a:latin typeface="Arial"/>
                <a:ea typeface="Arial"/>
                <a:cs typeface="Arial"/>
                <a:sym typeface="Arial"/>
              </a:rPr>
              <a:t> – For example, ibm-granite-3.2-8b – For natural language understanding, reasoning, and personalized agricultural recommendations.</a:t>
            </a:r>
          </a:p>
          <a:p>
            <a:pPr algn="l">
              <a:lnSpc>
                <a:spcPts val="3240"/>
              </a:lnSpc>
            </a:pP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IBM Cloud</a:t>
            </a:r>
            <a:r>
              <a:rPr lang="en-US" sz="2700">
                <a:solidFill>
                  <a:srgbClr val="000000"/>
                </a:solidFill>
                <a:latin typeface="Arial"/>
                <a:ea typeface="Arial"/>
                <a:cs typeface="Arial"/>
                <a:sym typeface="Arial"/>
              </a:rPr>
              <a:t> – It provides the infrastructure to build, deploy, and scale the Smart Farming Agent efficiently. IBM Cloud enables a </a:t>
            </a:r>
            <a:r>
              <a:rPr lang="en-US" sz="2700" b="true">
                <a:solidFill>
                  <a:srgbClr val="000000"/>
                </a:solidFill>
                <a:latin typeface="Arial Bold"/>
                <a:ea typeface="Arial Bold"/>
                <a:cs typeface="Arial Bold"/>
                <a:sym typeface="Arial Bold"/>
              </a:rPr>
              <a:t>reliable, secure, and scalable environment</a:t>
            </a:r>
            <a:r>
              <a:rPr lang="en-US" sz="2700">
                <a:solidFill>
                  <a:srgbClr val="000000"/>
                </a:solidFill>
                <a:latin typeface="Arial"/>
                <a:ea typeface="Arial"/>
                <a:cs typeface="Arial"/>
                <a:sym typeface="Arial"/>
              </a:rPr>
              <a:t> for deploying the Smart Farming Agent.</a:t>
            </a:r>
          </a:p>
          <a:p>
            <a:pPr algn="l">
              <a:lnSpc>
                <a:spcPts val="3240"/>
              </a:lnSpc>
            </a:pP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RAG (Retrieval-Augmented Generation)</a:t>
            </a:r>
            <a:r>
              <a:rPr lang="en-US" sz="2700">
                <a:solidFill>
                  <a:srgbClr val="000000"/>
                </a:solidFill>
                <a:latin typeface="Arial"/>
                <a:ea typeface="Arial"/>
                <a:cs typeface="Arial"/>
                <a:sym typeface="Arial"/>
              </a:rPr>
              <a:t> – To </a:t>
            </a:r>
            <a:r>
              <a:rPr lang="en-US" sz="2700" b="true">
                <a:solidFill>
                  <a:srgbClr val="000000"/>
                </a:solidFill>
                <a:latin typeface="Arial Bold"/>
                <a:ea typeface="Arial Bold"/>
                <a:cs typeface="Arial Bold"/>
                <a:sym typeface="Arial Bold"/>
              </a:rPr>
              <a:t>fetch real agricultural data first, then generate intelligent answers</a:t>
            </a:r>
            <a:r>
              <a:rPr lang="en-US" sz="2700">
                <a:solidFill>
                  <a:srgbClr val="000000"/>
                </a:solidFill>
                <a:latin typeface="Arial"/>
                <a:ea typeface="Arial"/>
                <a:cs typeface="Arial"/>
                <a:sym typeface="Arial"/>
              </a:rPr>
              <a:t>, making the Smart Farming Agent more trustworthy and effective by using crop-specific guidelines, best practices, and government advisories.</a:t>
            </a:r>
          </a:p>
          <a:p>
            <a:pPr algn="l">
              <a:lnSpc>
                <a:spcPts val="3240"/>
              </a:lnSpc>
            </a:pP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IBM watsonx.ai</a:t>
            </a:r>
            <a:r>
              <a:rPr lang="en-US" sz="2700">
                <a:solidFill>
                  <a:srgbClr val="000000"/>
                </a:solidFill>
                <a:latin typeface="Arial"/>
                <a:ea typeface="Arial"/>
                <a:cs typeface="Arial"/>
                <a:sym typeface="Arial"/>
              </a:rPr>
              <a:t> – For model deployment, embeddings, and AI governance.</a:t>
            </a:r>
          </a:p>
          <a:p>
            <a:pPr algn="l">
              <a:lnSpc>
                <a:spcPts val="3240"/>
              </a:lnSpc>
            </a:pP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Vector Database (FAISS/Chroma)</a:t>
            </a:r>
            <a:r>
              <a:rPr lang="en-US" sz="2700">
                <a:solidFill>
                  <a:srgbClr val="000000"/>
                </a:solidFill>
                <a:latin typeface="Arial"/>
                <a:ea typeface="Arial"/>
                <a:cs typeface="Arial"/>
                <a:sym typeface="Arial"/>
              </a:rPr>
              <a:t> – For RAG-based agricultural data retrieval, including crop guidelines, soil information, pest and disease management, and farming best practices.</a:t>
            </a:r>
          </a:p>
          <a:p>
            <a:pPr algn="l">
              <a:lnSpc>
                <a:spcPts val="3240"/>
              </a:lnSpc>
            </a:pPr>
          </a:p>
          <a:p>
            <a:pPr algn="l">
              <a:lnSpc>
                <a:spcPts val="3240"/>
              </a:lnSpc>
            </a:pPr>
          </a:p>
          <a:p>
            <a:pPr algn="l">
              <a:lnSpc>
                <a:spcPts val="3240"/>
              </a:lnSpc>
            </a:pPr>
          </a:p>
          <a:p>
            <a:pPr algn="l">
              <a:lnSpc>
                <a:spcPts val="32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6386" y="456286"/>
            <a:ext cx="9798120" cy="701335"/>
          </a:xfrm>
          <a:prstGeom prst="rect">
            <a:avLst/>
          </a:prstGeom>
        </p:spPr>
        <p:txBody>
          <a:bodyPr anchor="t" rtlCol="false" tIns="0" lIns="0" bIns="0" rIns="0">
            <a:spAutoFit/>
          </a:bodyPr>
          <a:lstStyle/>
          <a:p>
            <a:pPr algn="l">
              <a:lnSpc>
                <a:spcPts val="4320"/>
              </a:lnSpc>
            </a:pPr>
            <a:r>
              <a:rPr lang="en-US" b="true" sz="3600">
                <a:solidFill>
                  <a:srgbClr val="000000"/>
                </a:solidFill>
                <a:latin typeface="Arial Bold"/>
                <a:ea typeface="Arial Bold"/>
                <a:cs typeface="Arial Bold"/>
                <a:sym typeface="Arial Bold"/>
              </a:rPr>
              <a:t>Some required Files created using IBM bob -</a:t>
            </a:r>
          </a:p>
        </p:txBody>
      </p:sp>
      <p:sp>
        <p:nvSpPr>
          <p:cNvPr name="TextBox 3" id="3"/>
          <p:cNvSpPr txBox="true"/>
          <p:nvPr/>
        </p:nvSpPr>
        <p:spPr>
          <a:xfrm rot="0">
            <a:off x="803672" y="1321451"/>
            <a:ext cx="4730982" cy="6206252"/>
          </a:xfrm>
          <a:prstGeom prst="rect">
            <a:avLst/>
          </a:prstGeom>
        </p:spPr>
        <p:txBody>
          <a:bodyPr anchor="t" rtlCol="false" tIns="0" lIns="0" bIns="0" rIns="0">
            <a:spAutoFit/>
          </a:bodyPr>
          <a:lstStyle/>
          <a:p>
            <a:pPr algn="l">
              <a:lnSpc>
                <a:spcPts val="3240"/>
              </a:lnSpc>
            </a:pPr>
          </a:p>
          <a:p>
            <a:pPr algn="l" marL="488632" indent="-244316" lvl="1">
              <a:lnSpc>
                <a:spcPts val="3240"/>
              </a:lnSpc>
              <a:buAutoNum type="arabicPeriod" startAt="1"/>
            </a:pPr>
            <a:r>
              <a:rPr lang="en-US" sz="2700">
                <a:solidFill>
                  <a:srgbClr val="000000"/>
                </a:solidFill>
                <a:latin typeface="Arial"/>
                <a:ea typeface="Arial"/>
                <a:cs typeface="Arial"/>
                <a:sym typeface="Arial"/>
              </a:rPr>
              <a:t>App.py</a:t>
            </a:r>
          </a:p>
          <a:p>
            <a:pPr algn="l" marL="488632" indent="-244316" lvl="1">
              <a:lnSpc>
                <a:spcPts val="3240"/>
              </a:lnSpc>
            </a:pPr>
          </a:p>
          <a:p>
            <a:pPr algn="l" marL="488632" indent="-244316" lvl="1">
              <a:lnSpc>
                <a:spcPts val="3240"/>
              </a:lnSpc>
              <a:buAutoNum type="arabicPeriod" startAt="1"/>
            </a:pPr>
            <a:r>
              <a:rPr lang="en-US" sz="2700">
                <a:solidFill>
                  <a:srgbClr val="000000"/>
                </a:solidFill>
                <a:latin typeface="Arial"/>
                <a:ea typeface="Arial"/>
                <a:cs typeface="Arial"/>
                <a:sym typeface="Arial"/>
              </a:rPr>
              <a:t>Requirements.txt</a:t>
            </a:r>
          </a:p>
          <a:p>
            <a:pPr algn="l" marL="488632" indent="-244316" lvl="1">
              <a:lnSpc>
                <a:spcPts val="3240"/>
              </a:lnSpc>
            </a:pPr>
          </a:p>
          <a:p>
            <a:pPr algn="l" marL="488632" indent="-244316" lvl="1">
              <a:lnSpc>
                <a:spcPts val="3240"/>
              </a:lnSpc>
              <a:buAutoNum type="arabicPeriod" startAt="1"/>
            </a:pPr>
            <a:r>
              <a:rPr lang="en-US" sz="2700">
                <a:solidFill>
                  <a:srgbClr val="000000"/>
                </a:solidFill>
                <a:latin typeface="Arial"/>
                <a:ea typeface="Arial"/>
                <a:cs typeface="Arial"/>
                <a:sym typeface="Arial"/>
              </a:rPr>
              <a:t>.env</a:t>
            </a:r>
          </a:p>
          <a:p>
            <a:pPr algn="l" marL="488632" indent="-244316" lvl="1">
              <a:lnSpc>
                <a:spcPts val="3240"/>
              </a:lnSpc>
            </a:pPr>
          </a:p>
          <a:p>
            <a:pPr algn="l" marL="488632" indent="-244316" lvl="1">
              <a:lnSpc>
                <a:spcPts val="3240"/>
              </a:lnSpc>
              <a:buAutoNum type="arabicPeriod" startAt="1"/>
            </a:pPr>
            <a:r>
              <a:rPr lang="en-US" sz="2700">
                <a:solidFill>
                  <a:srgbClr val="000000"/>
                </a:solidFill>
                <a:latin typeface="Arial"/>
                <a:ea typeface="Arial"/>
                <a:cs typeface="Arial"/>
                <a:sym typeface="Arial"/>
              </a:rPr>
              <a:t>Index.html</a:t>
            </a: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380048" indent="-190024" lvl="1">
              <a:lnSpc>
                <a:spcPts val="2520"/>
              </a:lnSpc>
            </a:pPr>
            <a:r>
              <a:rPr lang="en-US" sz="2100">
                <a:solidFill>
                  <a:srgbClr val="000000"/>
                </a:solidFill>
                <a:latin typeface="Arial"/>
                <a:ea typeface="Arial"/>
                <a:cs typeface="Arial"/>
                <a:sym typeface="Arial"/>
              </a:rPr>
              <a:t> </a:t>
            </a:r>
          </a:p>
        </p:txBody>
      </p:sp>
      <p:grpSp>
        <p:nvGrpSpPr>
          <p:cNvPr name="Group 4" id="4"/>
          <p:cNvGrpSpPr/>
          <p:nvPr/>
        </p:nvGrpSpPr>
        <p:grpSpPr>
          <a:xfrm rot="0">
            <a:off x="6021324" y="3083233"/>
            <a:ext cx="11802551" cy="6184335"/>
            <a:chOff x="0" y="0"/>
            <a:chExt cx="15736735" cy="8245780"/>
          </a:xfrm>
        </p:grpSpPr>
        <p:sp>
          <p:nvSpPr>
            <p:cNvPr name="Freeform 5" id="5"/>
            <p:cNvSpPr/>
            <p:nvPr/>
          </p:nvSpPr>
          <p:spPr>
            <a:xfrm flipH="false" flipV="false" rot="0">
              <a:off x="0" y="0"/>
              <a:ext cx="15736697" cy="8245729"/>
            </a:xfrm>
            <a:custGeom>
              <a:avLst/>
              <a:gdLst/>
              <a:ahLst/>
              <a:cxnLst/>
              <a:rect r="r" b="b" t="t" l="l"/>
              <a:pathLst>
                <a:path h="8245729" w="15736697">
                  <a:moveTo>
                    <a:pt x="0" y="0"/>
                  </a:moveTo>
                  <a:lnTo>
                    <a:pt x="15736697" y="0"/>
                  </a:lnTo>
                  <a:lnTo>
                    <a:pt x="15736697" y="8245729"/>
                  </a:lnTo>
                  <a:lnTo>
                    <a:pt x="0" y="8245729"/>
                  </a:lnTo>
                  <a:lnTo>
                    <a:pt x="0" y="0"/>
                  </a:lnTo>
                  <a:close/>
                </a:path>
              </a:pathLst>
            </a:custGeom>
            <a:blipFill>
              <a:blip r:embed="rId3"/>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6386" y="456286"/>
            <a:ext cx="8863394" cy="701335"/>
          </a:xfrm>
          <a:prstGeom prst="rect">
            <a:avLst/>
          </a:prstGeom>
        </p:spPr>
        <p:txBody>
          <a:bodyPr anchor="t" rtlCol="false" tIns="0" lIns="0" bIns="0" rIns="0">
            <a:spAutoFit/>
          </a:bodyPr>
          <a:lstStyle/>
          <a:p>
            <a:pPr algn="l">
              <a:lnSpc>
                <a:spcPts val="4320"/>
              </a:lnSpc>
            </a:pPr>
            <a:r>
              <a:rPr lang="en-US" b="true" sz="3600">
                <a:solidFill>
                  <a:srgbClr val="051D3A"/>
                </a:solidFill>
                <a:latin typeface="Times New Roman Bold"/>
                <a:ea typeface="Times New Roman Bold"/>
                <a:cs typeface="Times New Roman Bold"/>
                <a:sym typeface="Times New Roman Bold"/>
              </a:rPr>
              <a:t> IBM Bob Screenshots:</a:t>
            </a:r>
          </a:p>
        </p:txBody>
      </p:sp>
      <p:grpSp>
        <p:nvGrpSpPr>
          <p:cNvPr name="Group 3" id="3"/>
          <p:cNvGrpSpPr/>
          <p:nvPr/>
        </p:nvGrpSpPr>
        <p:grpSpPr>
          <a:xfrm rot="0">
            <a:off x="2057400" y="2121170"/>
            <a:ext cx="13826614" cy="7244915"/>
            <a:chOff x="0" y="0"/>
            <a:chExt cx="18435485" cy="9659887"/>
          </a:xfrm>
        </p:grpSpPr>
        <p:sp>
          <p:nvSpPr>
            <p:cNvPr name="Freeform 4" id="4"/>
            <p:cNvSpPr/>
            <p:nvPr/>
          </p:nvSpPr>
          <p:spPr>
            <a:xfrm flipH="false" flipV="false" rot="0">
              <a:off x="0" y="0"/>
              <a:ext cx="18435447" cy="9659874"/>
            </a:xfrm>
            <a:custGeom>
              <a:avLst/>
              <a:gdLst/>
              <a:ahLst/>
              <a:cxnLst/>
              <a:rect r="r" b="b" t="t" l="l"/>
              <a:pathLst>
                <a:path h="9659874" w="18435447">
                  <a:moveTo>
                    <a:pt x="0" y="0"/>
                  </a:moveTo>
                  <a:lnTo>
                    <a:pt x="18435447" y="0"/>
                  </a:lnTo>
                  <a:lnTo>
                    <a:pt x="18435447" y="9659874"/>
                  </a:lnTo>
                  <a:lnTo>
                    <a:pt x="0" y="9659874"/>
                  </a:lnTo>
                  <a:lnTo>
                    <a:pt x="0" y="0"/>
                  </a:lnTo>
                  <a:close/>
                </a:path>
              </a:pathLst>
            </a:custGeom>
            <a:blipFill>
              <a:blip r:embed="rId3"/>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6386" y="456286"/>
            <a:ext cx="8863394" cy="701335"/>
          </a:xfrm>
          <a:prstGeom prst="rect">
            <a:avLst/>
          </a:prstGeom>
        </p:spPr>
        <p:txBody>
          <a:bodyPr anchor="t" rtlCol="false" tIns="0" lIns="0" bIns="0" rIns="0">
            <a:spAutoFit/>
          </a:bodyPr>
          <a:lstStyle/>
          <a:p>
            <a:pPr algn="l">
              <a:lnSpc>
                <a:spcPts val="4320"/>
              </a:lnSpc>
            </a:pPr>
            <a:r>
              <a:rPr lang="en-US" b="true" sz="3600">
                <a:solidFill>
                  <a:srgbClr val="051D3A"/>
                </a:solidFill>
                <a:latin typeface="Times New Roman Bold"/>
                <a:ea typeface="Times New Roman Bold"/>
                <a:cs typeface="Times New Roman Bold"/>
                <a:sym typeface="Times New Roman Bold"/>
              </a:rPr>
              <a:t> IBM Bob Screenshots:</a:t>
            </a:r>
          </a:p>
        </p:txBody>
      </p:sp>
      <p:grpSp>
        <p:nvGrpSpPr>
          <p:cNvPr name="Group 3" id="3"/>
          <p:cNvGrpSpPr/>
          <p:nvPr/>
        </p:nvGrpSpPr>
        <p:grpSpPr>
          <a:xfrm rot="0">
            <a:off x="2064277" y="2121170"/>
            <a:ext cx="13812860" cy="7244915"/>
            <a:chOff x="0" y="0"/>
            <a:chExt cx="18417146" cy="9659887"/>
          </a:xfrm>
        </p:grpSpPr>
        <p:sp>
          <p:nvSpPr>
            <p:cNvPr name="Freeform 4" id="4"/>
            <p:cNvSpPr/>
            <p:nvPr/>
          </p:nvSpPr>
          <p:spPr>
            <a:xfrm flipH="false" flipV="false" rot="0">
              <a:off x="0" y="0"/>
              <a:ext cx="18417160" cy="9659874"/>
            </a:xfrm>
            <a:custGeom>
              <a:avLst/>
              <a:gdLst/>
              <a:ahLst/>
              <a:cxnLst/>
              <a:rect r="r" b="b" t="t" l="l"/>
              <a:pathLst>
                <a:path h="9659874" w="18417160">
                  <a:moveTo>
                    <a:pt x="0" y="0"/>
                  </a:moveTo>
                  <a:lnTo>
                    <a:pt x="18417160" y="0"/>
                  </a:lnTo>
                  <a:lnTo>
                    <a:pt x="18417160" y="9659874"/>
                  </a:lnTo>
                  <a:lnTo>
                    <a:pt x="0" y="9659874"/>
                  </a:lnTo>
                  <a:lnTo>
                    <a:pt x="0" y="0"/>
                  </a:lnTo>
                  <a:close/>
                </a:path>
              </a:pathLst>
            </a:custGeom>
            <a:blipFill>
              <a:blip r:embed="rId3"/>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6386" y="418186"/>
            <a:ext cx="8863394" cy="739435"/>
          </a:xfrm>
          <a:prstGeom prst="rect">
            <a:avLst/>
          </a:prstGeom>
        </p:spPr>
        <p:txBody>
          <a:bodyPr anchor="t" rtlCol="false" tIns="0" lIns="0" bIns="0" rIns="0">
            <a:spAutoFit/>
          </a:bodyPr>
          <a:lstStyle/>
          <a:p>
            <a:pPr algn="l">
              <a:lnSpc>
                <a:spcPts val="4320"/>
              </a:lnSpc>
            </a:pPr>
            <a:r>
              <a:rPr lang="en-US" sz="3600" b="true">
                <a:solidFill>
                  <a:srgbClr val="000000"/>
                </a:solidFill>
                <a:latin typeface="Calibri (MS) Bold"/>
                <a:ea typeface="Calibri (MS) Bold"/>
                <a:cs typeface="Calibri (MS) Bold"/>
                <a:sym typeface="Calibri (MS) Bold"/>
              </a:rPr>
              <a:t>Architecture blueprint for IBM bob:</a:t>
            </a:r>
          </a:p>
        </p:txBody>
      </p:sp>
      <p:grpSp>
        <p:nvGrpSpPr>
          <p:cNvPr name="Group 3" id="3"/>
          <p:cNvGrpSpPr/>
          <p:nvPr/>
        </p:nvGrpSpPr>
        <p:grpSpPr>
          <a:xfrm rot="0">
            <a:off x="806386" y="1014412"/>
            <a:ext cx="16675227" cy="8942384"/>
            <a:chOff x="0" y="0"/>
            <a:chExt cx="22233636" cy="11923179"/>
          </a:xfrm>
        </p:grpSpPr>
        <p:sp>
          <p:nvSpPr>
            <p:cNvPr name="Freeform 4" id="4"/>
            <p:cNvSpPr/>
            <p:nvPr/>
          </p:nvSpPr>
          <p:spPr>
            <a:xfrm flipH="false" flipV="false" rot="0">
              <a:off x="0" y="0"/>
              <a:ext cx="22233637" cy="11923141"/>
            </a:xfrm>
            <a:custGeom>
              <a:avLst/>
              <a:gdLst/>
              <a:ahLst/>
              <a:cxnLst/>
              <a:rect r="r" b="b" t="t" l="l"/>
              <a:pathLst>
                <a:path h="11923141" w="22233637">
                  <a:moveTo>
                    <a:pt x="0" y="0"/>
                  </a:moveTo>
                  <a:lnTo>
                    <a:pt x="22233637" y="0"/>
                  </a:lnTo>
                  <a:lnTo>
                    <a:pt x="22233637" y="11923141"/>
                  </a:lnTo>
                  <a:lnTo>
                    <a:pt x="0" y="11923141"/>
                  </a:lnTo>
                  <a:lnTo>
                    <a:pt x="0" y="0"/>
                  </a:lnTo>
                  <a:close/>
                </a:path>
              </a:pathLst>
            </a:custGeom>
            <a:blipFill>
              <a:blip r:embed="rId3"/>
              <a:stretch>
                <a:fillRect l="0" t="0" r="0" b="-24316"/>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57979" y="1751238"/>
            <a:ext cx="4523013" cy="6784524"/>
            <a:chOff x="0" y="0"/>
            <a:chExt cx="6030684" cy="9046032"/>
          </a:xfrm>
        </p:grpSpPr>
        <p:sp>
          <p:nvSpPr>
            <p:cNvPr name="Freeform 3" id="3"/>
            <p:cNvSpPr/>
            <p:nvPr/>
          </p:nvSpPr>
          <p:spPr>
            <a:xfrm flipH="false" flipV="false" rot="0">
              <a:off x="0" y="0"/>
              <a:ext cx="6030722" cy="9046083"/>
            </a:xfrm>
            <a:custGeom>
              <a:avLst/>
              <a:gdLst/>
              <a:ahLst/>
              <a:cxnLst/>
              <a:rect r="r" b="b" t="t" l="l"/>
              <a:pathLst>
                <a:path h="9046083" w="6030722">
                  <a:moveTo>
                    <a:pt x="0" y="0"/>
                  </a:moveTo>
                  <a:lnTo>
                    <a:pt x="6030722" y="0"/>
                  </a:lnTo>
                  <a:lnTo>
                    <a:pt x="6030722" y="9046083"/>
                  </a:lnTo>
                  <a:lnTo>
                    <a:pt x="0" y="9046083"/>
                  </a:lnTo>
                  <a:lnTo>
                    <a:pt x="0" y="0"/>
                  </a:lnTo>
                  <a:close/>
                </a:path>
              </a:pathLst>
            </a:custGeom>
            <a:blipFill>
              <a:blip r:embed="rId3"/>
              <a:stretch>
                <a:fillRect l="0" t="0" r="0" b="0"/>
              </a:stretch>
            </a:blipFill>
          </p:spPr>
        </p:sp>
      </p:grpSp>
      <p:sp>
        <p:nvSpPr>
          <p:cNvPr name="TextBox 4" id="4"/>
          <p:cNvSpPr txBox="true"/>
          <p:nvPr/>
        </p:nvSpPr>
        <p:spPr>
          <a:xfrm rot="0">
            <a:off x="804672" y="451866"/>
            <a:ext cx="13793724"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Role of Agentic AI in the solution </a:t>
            </a:r>
          </a:p>
        </p:txBody>
      </p:sp>
      <p:sp>
        <p:nvSpPr>
          <p:cNvPr name="TextBox 5" id="5"/>
          <p:cNvSpPr txBox="true"/>
          <p:nvPr/>
        </p:nvSpPr>
        <p:spPr>
          <a:xfrm rot="0">
            <a:off x="1024128" y="1787433"/>
            <a:ext cx="10927080" cy="6196727"/>
          </a:xfrm>
          <a:prstGeom prst="rect">
            <a:avLst/>
          </a:prstGeom>
        </p:spPr>
        <p:txBody>
          <a:bodyPr anchor="t" rtlCol="false" tIns="0" lIns="0" bIns="0" rIns="0">
            <a:spAutoFit/>
          </a:bodyPr>
          <a:lstStyle/>
          <a:p>
            <a:pPr algn="l">
              <a:lnSpc>
                <a:spcPts val="2520"/>
              </a:lnSpc>
            </a:pPr>
            <a:r>
              <a:rPr lang="en-US" sz="2100" b="true">
                <a:solidFill>
                  <a:srgbClr val="000000"/>
                </a:solidFill>
                <a:latin typeface="Arial Bold"/>
                <a:ea typeface="Arial Bold"/>
                <a:cs typeface="Arial Bold"/>
                <a:sym typeface="Arial Bold"/>
              </a:rPr>
              <a:t>Role of Agentic AI in the Solution</a:t>
            </a:r>
          </a:p>
          <a:p>
            <a:pPr algn="l">
              <a:lnSpc>
                <a:spcPts val="2520"/>
              </a:lnSpc>
            </a:pPr>
            <a:r>
              <a:rPr lang="en-US" sz="2100">
                <a:solidFill>
                  <a:srgbClr val="000000"/>
                </a:solidFill>
                <a:latin typeface="Arial"/>
                <a:ea typeface="Arial"/>
                <a:cs typeface="Arial"/>
                <a:sym typeface="Arial"/>
              </a:rPr>
              <a:t>• </a:t>
            </a:r>
            <a:r>
              <a:rPr lang="en-US" sz="2100" b="true">
                <a:solidFill>
                  <a:srgbClr val="000000"/>
                </a:solidFill>
                <a:latin typeface="Arial Bold"/>
                <a:ea typeface="Arial Bold"/>
                <a:cs typeface="Arial Bold"/>
                <a:sym typeface="Arial Bold"/>
              </a:rPr>
              <a:t>Crop Advisory Agent</a:t>
            </a:r>
            <a:r>
              <a:rPr lang="en-US" sz="2100">
                <a:solidFill>
                  <a:srgbClr val="000000"/>
                </a:solidFill>
                <a:latin typeface="Arial"/>
                <a:ea typeface="Arial"/>
                <a:cs typeface="Arial"/>
                <a:sym typeface="Arial"/>
              </a:rPr>
              <a:t> – Analyzes crop type, soil conditions, and farmer profile to recommend suitable seeds, fertilizers, crop management practices, and harvesting timelines.</a:t>
            </a:r>
          </a:p>
          <a:p>
            <a:pPr algn="l">
              <a:lnSpc>
                <a:spcPts val="2520"/>
              </a:lnSpc>
            </a:pPr>
            <a:r>
              <a:rPr lang="en-US" sz="2100">
                <a:solidFill>
                  <a:srgbClr val="000000"/>
                </a:solidFill>
                <a:latin typeface="Arial"/>
                <a:ea typeface="Arial"/>
                <a:cs typeface="Arial"/>
                <a:sym typeface="Arial"/>
              </a:rPr>
              <a:t>• </a:t>
            </a:r>
            <a:r>
              <a:rPr lang="en-US" sz="2100" b="true">
                <a:solidFill>
                  <a:srgbClr val="000000"/>
                </a:solidFill>
                <a:latin typeface="Arial Bold"/>
                <a:ea typeface="Arial Bold"/>
                <a:cs typeface="Arial Bold"/>
                <a:sym typeface="Arial Bold"/>
              </a:rPr>
              <a:t>Weather &amp; Irrigation Agent</a:t>
            </a:r>
            <a:r>
              <a:rPr lang="en-US" sz="2100">
                <a:solidFill>
                  <a:srgbClr val="000000"/>
                </a:solidFill>
                <a:latin typeface="Arial"/>
                <a:ea typeface="Arial"/>
                <a:cs typeface="Arial"/>
                <a:sym typeface="Arial"/>
              </a:rPr>
              <a:t> – Monitors weather forecasts and soil moisture data to recommend irrigation schedules, rainfall preparedness, and water-saving strategies.</a:t>
            </a:r>
          </a:p>
          <a:p>
            <a:pPr algn="l">
              <a:lnSpc>
                <a:spcPts val="2520"/>
              </a:lnSpc>
            </a:pPr>
            <a:r>
              <a:rPr lang="en-US" sz="2100">
                <a:solidFill>
                  <a:srgbClr val="000000"/>
                </a:solidFill>
                <a:latin typeface="Arial"/>
                <a:ea typeface="Arial"/>
                <a:cs typeface="Arial"/>
                <a:sym typeface="Arial"/>
              </a:rPr>
              <a:t>• </a:t>
            </a:r>
            <a:r>
              <a:rPr lang="en-US" sz="2100" b="true">
                <a:solidFill>
                  <a:srgbClr val="000000"/>
                </a:solidFill>
                <a:latin typeface="Arial Bold"/>
                <a:ea typeface="Arial Bold"/>
                <a:cs typeface="Arial Bold"/>
                <a:sym typeface="Arial Bold"/>
              </a:rPr>
              <a:t>Pest &amp; Disease Detection Agent</a:t>
            </a:r>
            <a:r>
              <a:rPr lang="en-US" sz="2100">
                <a:solidFill>
                  <a:srgbClr val="000000"/>
                </a:solidFill>
                <a:latin typeface="Arial"/>
                <a:ea typeface="Arial"/>
                <a:cs typeface="Arial"/>
                <a:sym typeface="Arial"/>
              </a:rPr>
              <a:t> – Analyzes uploaded crop images to identify potential pests and diseases and provides early warnings and suitable treatment recommendations.</a:t>
            </a:r>
          </a:p>
          <a:p>
            <a:pPr algn="l">
              <a:lnSpc>
                <a:spcPts val="2520"/>
              </a:lnSpc>
            </a:pPr>
            <a:r>
              <a:rPr lang="en-US" sz="2100">
                <a:solidFill>
                  <a:srgbClr val="000000"/>
                </a:solidFill>
                <a:latin typeface="Arial"/>
                <a:ea typeface="Arial"/>
                <a:cs typeface="Arial"/>
                <a:sym typeface="Arial"/>
              </a:rPr>
              <a:t>• </a:t>
            </a:r>
            <a:r>
              <a:rPr lang="en-US" sz="2100" b="true">
                <a:solidFill>
                  <a:srgbClr val="000000"/>
                </a:solidFill>
                <a:latin typeface="Arial Bold"/>
                <a:ea typeface="Arial Bold"/>
                <a:cs typeface="Arial Bold"/>
                <a:sym typeface="Arial Bold"/>
              </a:rPr>
              <a:t>Market Insights Agent</a:t>
            </a:r>
            <a:r>
              <a:rPr lang="en-US" sz="2100">
                <a:solidFill>
                  <a:srgbClr val="000000"/>
                </a:solidFill>
                <a:latin typeface="Arial"/>
                <a:ea typeface="Arial"/>
                <a:cs typeface="Arial"/>
                <a:sym typeface="Arial"/>
              </a:rPr>
              <a:t> – Analyzes market demand, mandi prices, and cultivation costs to suggest profitable crops and cost-efficient farming practices.</a:t>
            </a:r>
          </a:p>
          <a:p>
            <a:pPr algn="l">
              <a:lnSpc>
                <a:spcPts val="2520"/>
              </a:lnSpc>
            </a:pPr>
            <a:r>
              <a:rPr lang="en-US" sz="2100">
                <a:solidFill>
                  <a:srgbClr val="000000"/>
                </a:solidFill>
                <a:latin typeface="Arial"/>
                <a:ea typeface="Arial"/>
                <a:cs typeface="Arial"/>
                <a:sym typeface="Arial"/>
              </a:rPr>
              <a:t>• </a:t>
            </a:r>
            <a:r>
              <a:rPr lang="en-US" sz="2100" b="true">
                <a:solidFill>
                  <a:srgbClr val="000000"/>
                </a:solidFill>
                <a:latin typeface="Arial Bold"/>
                <a:ea typeface="Arial Bold"/>
                <a:cs typeface="Arial Bold"/>
                <a:sym typeface="Arial Bold"/>
              </a:rPr>
              <a:t>RAG Knowledge Agent</a:t>
            </a:r>
            <a:r>
              <a:rPr lang="en-US" sz="2100">
                <a:solidFill>
                  <a:srgbClr val="000000"/>
                </a:solidFill>
                <a:latin typeface="Arial"/>
                <a:ea typeface="Arial"/>
                <a:cs typeface="Arial"/>
                <a:sym typeface="Arial"/>
              </a:rPr>
              <a:t> – Retrieves relevant agricultural guidelines, government advisories, and verified farming information to provide reliable, context-specific recommendations.</a:t>
            </a:r>
          </a:p>
          <a:p>
            <a:pPr algn="l">
              <a:lnSpc>
                <a:spcPts val="2520"/>
              </a:lnSpc>
            </a:pPr>
            <a:r>
              <a:rPr lang="en-US" sz="2100">
                <a:solidFill>
                  <a:srgbClr val="000000"/>
                </a:solidFill>
                <a:latin typeface="Arial"/>
                <a:ea typeface="Arial"/>
                <a:cs typeface="Arial"/>
                <a:sym typeface="Arial"/>
              </a:rPr>
              <a:t>• </a:t>
            </a:r>
            <a:r>
              <a:rPr lang="en-US" sz="2100" b="true">
                <a:solidFill>
                  <a:srgbClr val="000000"/>
                </a:solidFill>
                <a:latin typeface="Arial Bold"/>
                <a:ea typeface="Arial Bold"/>
                <a:cs typeface="Arial Bold"/>
                <a:sym typeface="Arial Bold"/>
              </a:rPr>
              <a:t>Multi-Agent Collaboration</a:t>
            </a:r>
            <a:r>
              <a:rPr lang="en-US" sz="2100">
                <a:solidFill>
                  <a:srgbClr val="000000"/>
                </a:solidFill>
                <a:latin typeface="Arial"/>
                <a:ea typeface="Arial"/>
                <a:cs typeface="Arial"/>
                <a:sym typeface="Arial"/>
              </a:rPr>
              <a:t> – The IBM Bob platform coordinates the specialized agents, enabling them to share relevant insights, combine their findings, and generate personalized, actionable, and sustainable farming advice.</a:t>
            </a:r>
          </a:p>
          <a:p>
            <a:pPr algn="l">
              <a:lnSpc>
                <a:spcPts val="2520"/>
              </a:lnSpc>
            </a:pPr>
            <a:r>
              <a:rPr lang="en-US" sz="2100">
                <a:solidFill>
                  <a:srgbClr val="000000"/>
                </a:solidFill>
                <a:latin typeface="Arial"/>
                <a:ea typeface="Arial"/>
                <a:cs typeface="Arial"/>
                <a:sym typeface="Arial"/>
              </a:rPr>
              <a:t>• </a:t>
            </a:r>
            <a:r>
              <a:rPr lang="en-US" sz="2100" b="true">
                <a:solidFill>
                  <a:srgbClr val="000000"/>
                </a:solidFill>
                <a:latin typeface="Arial Bold"/>
                <a:ea typeface="Arial Bold"/>
                <a:cs typeface="Arial Bold"/>
                <a:sym typeface="Arial Bold"/>
              </a:rPr>
              <a:t>Intelligent Decision-Making</a:t>
            </a:r>
            <a:r>
              <a:rPr lang="en-US" sz="2100">
                <a:solidFill>
                  <a:srgbClr val="000000"/>
                </a:solidFill>
                <a:latin typeface="Arial"/>
                <a:ea typeface="Arial"/>
                <a:cs typeface="Arial"/>
                <a:sym typeface="Arial"/>
              </a:rPr>
              <a:t> – Agentic AI evaluates information from multiple sources, adapts recommendations to changing farm conditions, and helps farmers make informed decisions to improve crop yield and profitability.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3715" y="-87735"/>
            <a:ext cx="9666742" cy="13132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
        <p:nvSpPr>
          <p:cNvPr name="TextBox 3" id="3"/>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2093976" y="2824734"/>
            <a:ext cx="10068001" cy="98943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7" id="7"/>
          <p:cNvGrpSpPr/>
          <p:nvPr/>
        </p:nvGrpSpPr>
        <p:grpSpPr>
          <a:xfrm rot="0">
            <a:off x="613715" y="1328385"/>
            <a:ext cx="15671749" cy="8572938"/>
            <a:chOff x="0" y="0"/>
            <a:chExt cx="20895666" cy="11430584"/>
          </a:xfrm>
        </p:grpSpPr>
        <p:sp>
          <p:nvSpPr>
            <p:cNvPr name="Freeform 8" id="8"/>
            <p:cNvSpPr/>
            <p:nvPr/>
          </p:nvSpPr>
          <p:spPr>
            <a:xfrm flipH="false" flipV="false" rot="0">
              <a:off x="0" y="0"/>
              <a:ext cx="20895690" cy="11430635"/>
            </a:xfrm>
            <a:custGeom>
              <a:avLst/>
              <a:gdLst/>
              <a:ahLst/>
              <a:cxnLst/>
              <a:rect r="r" b="b" t="t" l="l"/>
              <a:pathLst>
                <a:path h="11430635" w="20895690">
                  <a:moveTo>
                    <a:pt x="0" y="0"/>
                  </a:moveTo>
                  <a:lnTo>
                    <a:pt x="20895690" y="0"/>
                  </a:lnTo>
                  <a:lnTo>
                    <a:pt x="20895690" y="11430635"/>
                  </a:lnTo>
                  <a:lnTo>
                    <a:pt x="0" y="11430635"/>
                  </a:lnTo>
                  <a:lnTo>
                    <a:pt x="0" y="0"/>
                  </a:lnTo>
                  <a:close/>
                </a:path>
              </a:pathLst>
            </a:custGeom>
            <a:blipFill>
              <a:blip r:embed="rId3"/>
              <a:stretch>
                <a:fillRect l="0" t="0" r="0" b="-18658"/>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3715" y="-87735"/>
            <a:ext cx="9666742" cy="13132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
        <p:nvSpPr>
          <p:cNvPr name="TextBox 3" id="3"/>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2093976" y="2824734"/>
            <a:ext cx="10068001" cy="98943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7" id="7"/>
          <p:cNvGrpSpPr/>
          <p:nvPr/>
        </p:nvGrpSpPr>
        <p:grpSpPr>
          <a:xfrm rot="0">
            <a:off x="613715" y="1506807"/>
            <a:ext cx="16213779" cy="7932610"/>
            <a:chOff x="0" y="0"/>
            <a:chExt cx="21618372" cy="10576814"/>
          </a:xfrm>
        </p:grpSpPr>
        <p:sp>
          <p:nvSpPr>
            <p:cNvPr name="Freeform 8" id="8"/>
            <p:cNvSpPr/>
            <p:nvPr/>
          </p:nvSpPr>
          <p:spPr>
            <a:xfrm flipH="false" flipV="false" rot="0">
              <a:off x="0" y="0"/>
              <a:ext cx="21618321" cy="10576814"/>
            </a:xfrm>
            <a:custGeom>
              <a:avLst/>
              <a:gdLst/>
              <a:ahLst/>
              <a:cxnLst/>
              <a:rect r="r" b="b" t="t" l="l"/>
              <a:pathLst>
                <a:path h="10576814" w="21618321">
                  <a:moveTo>
                    <a:pt x="0" y="0"/>
                  </a:moveTo>
                  <a:lnTo>
                    <a:pt x="21618321" y="0"/>
                  </a:lnTo>
                  <a:lnTo>
                    <a:pt x="21618321" y="10576814"/>
                  </a:lnTo>
                  <a:lnTo>
                    <a:pt x="0" y="10576814"/>
                  </a:lnTo>
                  <a:lnTo>
                    <a:pt x="0" y="0"/>
                  </a:lnTo>
                  <a:close/>
                </a:path>
              </a:pathLst>
            </a:custGeom>
            <a:blipFill>
              <a:blip r:embed="rId3"/>
              <a:stretch>
                <a:fillRect l="0" t="0" r="0" b="-38987"/>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3715" y="-87735"/>
            <a:ext cx="9666742" cy="13132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
        <p:nvSpPr>
          <p:cNvPr name="TextBox 3" id="3"/>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2093976" y="2824734"/>
            <a:ext cx="10068001" cy="98943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7" id="7"/>
          <p:cNvGrpSpPr/>
          <p:nvPr/>
        </p:nvGrpSpPr>
        <p:grpSpPr>
          <a:xfrm rot="0">
            <a:off x="613715" y="1200045"/>
            <a:ext cx="16201082" cy="8917515"/>
            <a:chOff x="0" y="0"/>
            <a:chExt cx="21601443" cy="11890019"/>
          </a:xfrm>
        </p:grpSpPr>
        <p:sp>
          <p:nvSpPr>
            <p:cNvPr name="Freeform 8" id="8"/>
            <p:cNvSpPr/>
            <p:nvPr/>
          </p:nvSpPr>
          <p:spPr>
            <a:xfrm flipH="false" flipV="false" rot="0">
              <a:off x="0" y="0"/>
              <a:ext cx="21601430" cy="11889994"/>
            </a:xfrm>
            <a:custGeom>
              <a:avLst/>
              <a:gdLst/>
              <a:ahLst/>
              <a:cxnLst/>
              <a:rect r="r" b="b" t="t" l="l"/>
              <a:pathLst>
                <a:path h="11889994" w="21601430">
                  <a:moveTo>
                    <a:pt x="0" y="0"/>
                  </a:moveTo>
                  <a:lnTo>
                    <a:pt x="21601430" y="0"/>
                  </a:lnTo>
                  <a:lnTo>
                    <a:pt x="21601430" y="11889994"/>
                  </a:lnTo>
                  <a:lnTo>
                    <a:pt x="0" y="11889994"/>
                  </a:lnTo>
                  <a:lnTo>
                    <a:pt x="0" y="0"/>
                  </a:lnTo>
                  <a:close/>
                </a:path>
              </a:pathLst>
            </a:custGeom>
            <a:blipFill>
              <a:blip r:embed="rId3"/>
              <a:stretch>
                <a:fillRect l="0" t="0" r="0" b="-12413"/>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3715" y="-87735"/>
            <a:ext cx="9666742" cy="13132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
        <p:nvSpPr>
          <p:cNvPr name="TextBox 3" id="3"/>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2093976" y="2824734"/>
            <a:ext cx="10068001" cy="98943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7" id="7"/>
          <p:cNvGrpSpPr/>
          <p:nvPr/>
        </p:nvGrpSpPr>
        <p:grpSpPr>
          <a:xfrm rot="0">
            <a:off x="613715" y="1200045"/>
            <a:ext cx="15846200" cy="8917515"/>
            <a:chOff x="0" y="0"/>
            <a:chExt cx="21128266" cy="11890019"/>
          </a:xfrm>
        </p:grpSpPr>
        <p:sp>
          <p:nvSpPr>
            <p:cNvPr name="Freeform 8" id="8"/>
            <p:cNvSpPr/>
            <p:nvPr/>
          </p:nvSpPr>
          <p:spPr>
            <a:xfrm flipH="false" flipV="false" rot="0">
              <a:off x="0" y="0"/>
              <a:ext cx="21128228" cy="11889994"/>
            </a:xfrm>
            <a:custGeom>
              <a:avLst/>
              <a:gdLst/>
              <a:ahLst/>
              <a:cxnLst/>
              <a:rect r="r" b="b" t="t" l="l"/>
              <a:pathLst>
                <a:path h="11889994" w="21128228">
                  <a:moveTo>
                    <a:pt x="0" y="0"/>
                  </a:moveTo>
                  <a:lnTo>
                    <a:pt x="21128228" y="0"/>
                  </a:lnTo>
                  <a:lnTo>
                    <a:pt x="21128228" y="11889994"/>
                  </a:lnTo>
                  <a:lnTo>
                    <a:pt x="0" y="11889994"/>
                  </a:lnTo>
                  <a:lnTo>
                    <a:pt x="0" y="0"/>
                  </a:lnTo>
                  <a:close/>
                </a:path>
              </a:pathLst>
            </a:custGeom>
            <a:blipFill>
              <a:blip r:embed="rId3"/>
              <a:stretch>
                <a:fillRect l="0" t="0" r="0" b="-18703"/>
              </a:stretch>
            </a:blipFill>
          </p:spPr>
        </p:sp>
      </p:gr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744093"/>
            <a:ext cx="1050188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Novelty and Uniqueness</a:t>
            </a:r>
          </a:p>
        </p:txBody>
      </p:sp>
      <p:sp>
        <p:nvSpPr>
          <p:cNvPr name="TextBox 3" id="3"/>
          <p:cNvSpPr txBox="true"/>
          <p:nvPr/>
        </p:nvSpPr>
        <p:spPr>
          <a:xfrm rot="0">
            <a:off x="1257300" y="1837182"/>
            <a:ext cx="16770096" cy="7960576"/>
          </a:xfrm>
          <a:prstGeom prst="rect">
            <a:avLst/>
          </a:prstGeom>
        </p:spPr>
        <p:txBody>
          <a:bodyPr anchor="t" rtlCol="false" tIns="0" lIns="0" bIns="0" rIns="0">
            <a:spAutoFit/>
          </a:bodyPr>
          <a:lstStyle/>
          <a:p>
            <a:pPr algn="l">
              <a:lnSpc>
                <a:spcPts val="3240"/>
              </a:lnSpc>
            </a:pPr>
            <a:r>
              <a:rPr lang="en-US" sz="2700" b="true">
                <a:solidFill>
                  <a:srgbClr val="000000"/>
                </a:solidFill>
                <a:latin typeface="Arial Bold"/>
                <a:ea typeface="Arial Bold"/>
                <a:cs typeface="Arial Bold"/>
                <a:sym typeface="Arial Bold"/>
              </a:rPr>
              <a:t>Novelty and Uniqueness</a:t>
            </a: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Multi-Agent Collaboration</a:t>
            </a:r>
            <a:r>
              <a:rPr lang="en-US" sz="2700">
                <a:solidFill>
                  <a:srgbClr val="000000"/>
                </a:solidFill>
                <a:latin typeface="Arial"/>
                <a:ea typeface="Arial"/>
                <a:cs typeface="Arial"/>
                <a:sym typeface="Arial"/>
              </a:rPr>
              <a:t> – Combines Crop Advisory, Weather &amp; Irrigation, Pest &amp; Disease Detection, and Market Insights agents to deliver comprehensive farming solutions through a coordinated AI system.</a:t>
            </a: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Personalized Farming Recommendations</a:t>
            </a:r>
            <a:r>
              <a:rPr lang="en-US" sz="2700">
                <a:solidFill>
                  <a:srgbClr val="000000"/>
                </a:solidFill>
                <a:latin typeface="Arial"/>
                <a:ea typeface="Arial"/>
                <a:cs typeface="Arial"/>
                <a:sym typeface="Arial"/>
              </a:rPr>
              <a:t> – Provides crop-specific advice based on the farmer’s profile, land conditions, soil health, local climate, and budget.</a:t>
            </a: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RAG-Based Verified Knowledge</a:t>
            </a:r>
            <a:r>
              <a:rPr lang="en-US" sz="2700">
                <a:solidFill>
                  <a:srgbClr val="000000"/>
                </a:solidFill>
                <a:latin typeface="Arial"/>
                <a:ea typeface="Arial"/>
                <a:cs typeface="Arial"/>
                <a:sym typeface="Arial"/>
              </a:rPr>
              <a:t> – Retrieves relevant agricultural best practices, crop guidelines, and government advisories before generating recommendations, improving the relevance and reliability of responses.</a:t>
            </a: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Multimodal Pest &amp; Disease Detection</a:t>
            </a:r>
            <a:r>
              <a:rPr lang="en-US" sz="2700">
                <a:solidFill>
                  <a:srgbClr val="000000"/>
                </a:solidFill>
                <a:latin typeface="Arial"/>
                <a:ea typeface="Arial"/>
                <a:cs typeface="Arial"/>
                <a:sym typeface="Arial"/>
              </a:rPr>
              <a:t> – Enables farmers to upload crop images for early identification of potential pest infestations and diseases, along with appropriate preventive and treatment guidance.</a:t>
            </a: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Real-Time Weather and Smart Irrigation</a:t>
            </a:r>
            <a:r>
              <a:rPr lang="en-US" sz="2700">
                <a:solidFill>
                  <a:srgbClr val="000000"/>
                </a:solidFill>
                <a:latin typeface="Arial"/>
                <a:ea typeface="Arial"/>
                <a:cs typeface="Arial"/>
                <a:sym typeface="Arial"/>
              </a:rPr>
              <a:t> – Integrates weather forecasts and available soil moisture data to recommend irrigation schedules, reduce water wastage, and support climate-resilient farming.</a:t>
            </a: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Market-Driven Profit Optimization</a:t>
            </a:r>
            <a:r>
              <a:rPr lang="en-US" sz="2700">
                <a:solidFill>
                  <a:srgbClr val="000000"/>
                </a:solidFill>
                <a:latin typeface="Arial"/>
                <a:ea typeface="Arial"/>
                <a:cs typeface="Arial"/>
                <a:sym typeface="Arial"/>
              </a:rPr>
              <a:t> – Combines market price information, demand trends, and cultivation costs to help farmers make informed crop-selection and selling decisions.</a:t>
            </a: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Sustainable and Cost-Effective Agriculture</a:t>
            </a:r>
            <a:r>
              <a:rPr lang="en-US" sz="2700">
                <a:solidFill>
                  <a:srgbClr val="000000"/>
                </a:solidFill>
                <a:latin typeface="Arial"/>
                <a:ea typeface="Arial"/>
                <a:cs typeface="Arial"/>
                <a:sym typeface="Arial"/>
              </a:rPr>
              <a:t> – Encourages efficient use of water, fertilizers, and other agricultural resources while promoting environmentally responsible farming practices.</a:t>
            </a:r>
          </a:p>
          <a:p>
            <a:pPr algn="l">
              <a:lnSpc>
                <a:spcPts val="3240"/>
              </a:lnSpc>
            </a:pPr>
            <a:r>
              <a:rPr lang="en-US" sz="2700">
                <a:solidFill>
                  <a:srgbClr val="000000"/>
                </a:solidFill>
                <a:latin typeface="Arial"/>
                <a:ea typeface="Arial"/>
                <a:cs typeface="Arial"/>
                <a:sym typeface="Arial"/>
              </a:rPr>
              <a:t>• </a:t>
            </a:r>
            <a:r>
              <a:rPr lang="en-US" sz="2700" b="true">
                <a:solidFill>
                  <a:srgbClr val="000000"/>
                </a:solidFill>
                <a:latin typeface="Arial Bold"/>
                <a:ea typeface="Arial Bold"/>
                <a:cs typeface="Arial Bold"/>
                <a:sym typeface="Arial Bold"/>
              </a:rPr>
              <a:t>Agentic AI with IBM Technology</a:t>
            </a:r>
            <a:r>
              <a:rPr lang="en-US" sz="2700">
                <a:solidFill>
                  <a:srgbClr val="000000"/>
                </a:solidFill>
                <a:latin typeface="Arial"/>
                <a:ea typeface="Arial"/>
                <a:cs typeface="Arial"/>
                <a:sym typeface="Arial"/>
              </a:rPr>
              <a:t> – Uses the IBM Bob platform to orchestrate specialized AI agents, with IBM Granite models and RAG-based knowledge retrieval, to transform fragmented agricultural information into coordinated, actionable recommendations.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28086" y="373923"/>
            <a:ext cx="9666742" cy="1313202"/>
          </a:xfrm>
          <a:prstGeom prst="rect">
            <a:avLst/>
          </a:prstGeom>
        </p:spPr>
        <p:txBody>
          <a:bodyPr anchor="t" rtlCol="false" tIns="0" lIns="0" bIns="0" rIns="0">
            <a:spAutoFit/>
          </a:bodyPr>
          <a:lstStyle/>
          <a:p>
            <a:pPr algn="l">
              <a:lnSpc>
                <a:spcPts val="6788"/>
              </a:lnSpc>
            </a:pPr>
            <a:r>
              <a:rPr lang="en-US" b="true" sz="3600">
                <a:solidFill>
                  <a:srgbClr val="000000"/>
                </a:solidFill>
                <a:latin typeface="Arial Bold"/>
                <a:ea typeface="Arial Bold"/>
                <a:cs typeface="Arial Bold"/>
                <a:sym typeface="Arial Bold"/>
              </a:rPr>
              <a:t>Git Hub Link</a:t>
            </a:r>
          </a:p>
        </p:txBody>
      </p:sp>
      <p:sp>
        <p:nvSpPr>
          <p:cNvPr name="TextBox 3" id="3"/>
          <p:cNvSpPr txBox="true"/>
          <p:nvPr/>
        </p:nvSpPr>
        <p:spPr>
          <a:xfrm rot="0">
            <a:off x="1828086" y="1521019"/>
            <a:ext cx="13821870" cy="622937"/>
          </a:xfrm>
          <a:prstGeom prst="rect">
            <a:avLst/>
          </a:prstGeom>
        </p:spPr>
        <p:txBody>
          <a:bodyPr anchor="t" rtlCol="false" tIns="0" lIns="0" bIns="0" rIns="0">
            <a:spAutoFit/>
          </a:bodyPr>
          <a:lstStyle/>
          <a:p>
            <a:pPr algn="l">
              <a:lnSpc>
                <a:spcPts val="5399"/>
              </a:lnSpc>
            </a:pPr>
            <a:r>
              <a:rPr lang="en-US" sz="2775" u="sng">
                <a:solidFill>
                  <a:srgbClr val="2B3541"/>
                </a:solidFill>
                <a:latin typeface="Times New Roman"/>
                <a:ea typeface="Times New Roman"/>
                <a:cs typeface="Times New Roman"/>
                <a:sym typeface="Times New Roman"/>
                <a:hlinkClick r:id="rId3" tooltip="https://github.com/PRAJUGOWDRU/AgroMind-AI-Smart-Farming"/>
              </a:rPr>
              <a:t>https://github.com/PRAJUGOWDRU/AgroMind-AI-Smart-Farming</a:t>
            </a:r>
          </a:p>
        </p:txBody>
      </p:sp>
      <p:sp>
        <p:nvSpPr>
          <p:cNvPr name="TextBox 4" id="4"/>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8086" y="373923"/>
            <a:ext cx="9666742" cy="1313202"/>
          </a:xfrm>
          <a:prstGeom prst="rect">
            <a:avLst/>
          </a:prstGeom>
        </p:spPr>
        <p:txBody>
          <a:bodyPr anchor="t" rtlCol="false" tIns="0" lIns="0" bIns="0" rIns="0">
            <a:spAutoFit/>
          </a:bodyPr>
          <a:lstStyle/>
          <a:p>
            <a:pPr algn="l">
              <a:lnSpc>
                <a:spcPts val="6788"/>
              </a:lnSpc>
            </a:pPr>
            <a:r>
              <a:rPr lang="en-US" b="true" sz="3600">
                <a:solidFill>
                  <a:srgbClr val="000000"/>
                </a:solidFill>
                <a:latin typeface="Arial Bold"/>
                <a:ea typeface="Arial Bold"/>
                <a:cs typeface="Arial Bold"/>
                <a:sym typeface="Arial Bold"/>
              </a:rPr>
              <a:t>Future Scope </a:t>
            </a:r>
          </a:p>
        </p:txBody>
      </p:sp>
      <p:sp>
        <p:nvSpPr>
          <p:cNvPr name="TextBox 3" id="3"/>
          <p:cNvSpPr txBox="true"/>
          <p:nvPr/>
        </p:nvSpPr>
        <p:spPr>
          <a:xfrm rot="0">
            <a:off x="1828086" y="1813522"/>
            <a:ext cx="13821870" cy="6434547"/>
          </a:xfrm>
          <a:prstGeom prst="rect">
            <a:avLst/>
          </a:prstGeom>
        </p:spPr>
        <p:txBody>
          <a:bodyPr anchor="t" rtlCol="false" tIns="0" lIns="0" bIns="0" rIns="0">
            <a:spAutoFit/>
          </a:bodyPr>
          <a:lstStyle/>
          <a:p>
            <a:pPr algn="l">
              <a:lnSpc>
                <a:spcPts val="3600"/>
              </a:lnSpc>
            </a:pPr>
            <a:r>
              <a:rPr lang="en-US" sz="3000" b="true">
                <a:solidFill>
                  <a:srgbClr val="000000"/>
                </a:solidFill>
                <a:latin typeface="Arial Bold"/>
                <a:ea typeface="Arial Bold"/>
                <a:cs typeface="Arial Bold"/>
                <a:sym typeface="Arial Bold"/>
              </a:rPr>
              <a:t>Future Scope</a:t>
            </a:r>
          </a:p>
          <a:p>
            <a:pPr algn="l">
              <a:lnSpc>
                <a:spcPts val="3600"/>
              </a:lnSpc>
            </a:pPr>
            <a:r>
              <a:rPr lang="en-US" sz="3000">
                <a:solidFill>
                  <a:srgbClr val="000000"/>
                </a:solidFill>
                <a:latin typeface="Arial"/>
                <a:ea typeface="Arial"/>
                <a:cs typeface="Arial"/>
                <a:sym typeface="Arial"/>
              </a:rPr>
              <a:t>• </a:t>
            </a:r>
            <a:r>
              <a:rPr lang="en-US" sz="3000" b="true">
                <a:solidFill>
                  <a:srgbClr val="000000"/>
                </a:solidFill>
                <a:latin typeface="Arial Bold"/>
                <a:ea typeface="Arial Bold"/>
                <a:cs typeface="Arial Bold"/>
                <a:sym typeface="Arial Bold"/>
              </a:rPr>
              <a:t>IoT-Based Smart Farming</a:t>
            </a:r>
            <a:r>
              <a:rPr lang="en-US" sz="3000">
                <a:solidFill>
                  <a:srgbClr val="000000"/>
                </a:solidFill>
                <a:latin typeface="Arial"/>
                <a:ea typeface="Arial"/>
                <a:cs typeface="Arial"/>
                <a:sym typeface="Arial"/>
              </a:rPr>
              <a:t> – Integrate sensors to monitor soil moisture, temperature, and nutrient levels in real time.</a:t>
            </a:r>
          </a:p>
          <a:p>
            <a:pPr algn="l">
              <a:lnSpc>
                <a:spcPts val="3600"/>
              </a:lnSpc>
            </a:pPr>
            <a:r>
              <a:rPr lang="en-US" sz="3000">
                <a:solidFill>
                  <a:srgbClr val="000000"/>
                </a:solidFill>
                <a:latin typeface="Arial"/>
                <a:ea typeface="Arial"/>
                <a:cs typeface="Arial"/>
                <a:sym typeface="Arial"/>
              </a:rPr>
              <a:t>• </a:t>
            </a:r>
            <a:r>
              <a:rPr lang="en-US" sz="3000" b="true">
                <a:solidFill>
                  <a:srgbClr val="000000"/>
                </a:solidFill>
                <a:latin typeface="Arial Bold"/>
                <a:ea typeface="Arial Bold"/>
                <a:cs typeface="Arial Bold"/>
                <a:sym typeface="Arial Bold"/>
              </a:rPr>
              <a:t>Drone &amp; Satellite Integration</a:t>
            </a:r>
            <a:r>
              <a:rPr lang="en-US" sz="3000">
                <a:solidFill>
                  <a:srgbClr val="000000"/>
                </a:solidFill>
                <a:latin typeface="Arial"/>
                <a:ea typeface="Arial"/>
                <a:cs typeface="Arial"/>
                <a:sym typeface="Arial"/>
              </a:rPr>
              <a:t> – Monitor crop health, identify affected areas, and assess large agricultural fields.</a:t>
            </a:r>
          </a:p>
          <a:p>
            <a:pPr algn="l">
              <a:lnSpc>
                <a:spcPts val="3600"/>
              </a:lnSpc>
            </a:pPr>
            <a:r>
              <a:rPr lang="en-US" sz="3000">
                <a:solidFill>
                  <a:srgbClr val="000000"/>
                </a:solidFill>
                <a:latin typeface="Arial"/>
                <a:ea typeface="Arial"/>
                <a:cs typeface="Arial"/>
                <a:sym typeface="Arial"/>
              </a:rPr>
              <a:t>• </a:t>
            </a:r>
            <a:r>
              <a:rPr lang="en-US" sz="3000" b="true">
                <a:solidFill>
                  <a:srgbClr val="000000"/>
                </a:solidFill>
                <a:latin typeface="Arial Bold"/>
                <a:ea typeface="Arial Bold"/>
                <a:cs typeface="Arial Bold"/>
                <a:sym typeface="Arial Bold"/>
              </a:rPr>
              <a:t>Regional Language &amp; Voice Support</a:t>
            </a:r>
            <a:r>
              <a:rPr lang="en-US" sz="3000">
                <a:solidFill>
                  <a:srgbClr val="000000"/>
                </a:solidFill>
                <a:latin typeface="Arial"/>
                <a:ea typeface="Arial"/>
                <a:cs typeface="Arial"/>
                <a:sym typeface="Arial"/>
              </a:rPr>
              <a:t> – Provide multilingual and voice-based assistance for better accessibility.</a:t>
            </a:r>
          </a:p>
          <a:p>
            <a:pPr algn="l">
              <a:lnSpc>
                <a:spcPts val="3600"/>
              </a:lnSpc>
            </a:pPr>
            <a:r>
              <a:rPr lang="en-US" sz="3000">
                <a:solidFill>
                  <a:srgbClr val="000000"/>
                </a:solidFill>
                <a:latin typeface="Arial"/>
                <a:ea typeface="Arial"/>
                <a:cs typeface="Arial"/>
                <a:sym typeface="Arial"/>
              </a:rPr>
              <a:t>• </a:t>
            </a:r>
            <a:r>
              <a:rPr lang="en-US" sz="3000" b="true">
                <a:solidFill>
                  <a:srgbClr val="000000"/>
                </a:solidFill>
                <a:latin typeface="Arial Bold"/>
                <a:ea typeface="Arial Bold"/>
                <a:cs typeface="Arial Bold"/>
                <a:sym typeface="Arial Bold"/>
              </a:rPr>
              <a:t>Predictive Crop Yield Analysis</a:t>
            </a:r>
            <a:r>
              <a:rPr lang="en-US" sz="3000">
                <a:solidFill>
                  <a:srgbClr val="000000"/>
                </a:solidFill>
                <a:latin typeface="Arial"/>
                <a:ea typeface="Arial"/>
                <a:cs typeface="Arial"/>
                <a:sym typeface="Arial"/>
              </a:rPr>
              <a:t> – Forecast crop yields and identify potential agricultural risks using AI.</a:t>
            </a:r>
          </a:p>
          <a:p>
            <a:pPr algn="l">
              <a:lnSpc>
                <a:spcPts val="3600"/>
              </a:lnSpc>
            </a:pPr>
            <a:r>
              <a:rPr lang="en-US" sz="3000">
                <a:solidFill>
                  <a:srgbClr val="000000"/>
                </a:solidFill>
                <a:latin typeface="Arial"/>
                <a:ea typeface="Arial"/>
                <a:cs typeface="Arial"/>
                <a:sym typeface="Arial"/>
              </a:rPr>
              <a:t>• </a:t>
            </a:r>
            <a:r>
              <a:rPr lang="en-US" sz="3000" b="true">
                <a:solidFill>
                  <a:srgbClr val="000000"/>
                </a:solidFill>
                <a:latin typeface="Arial Bold"/>
                <a:ea typeface="Arial Bold"/>
                <a:cs typeface="Arial Bold"/>
                <a:sym typeface="Arial Bold"/>
              </a:rPr>
              <a:t>Advanced Pest &amp; Disease Prediction</a:t>
            </a:r>
            <a:r>
              <a:rPr lang="en-US" sz="3000">
                <a:solidFill>
                  <a:srgbClr val="000000"/>
                </a:solidFill>
                <a:latin typeface="Arial"/>
                <a:ea typeface="Arial"/>
                <a:cs typeface="Arial"/>
                <a:sym typeface="Arial"/>
              </a:rPr>
              <a:t> – Detect potential outbreaks early using crop images, weather data, and historical information.</a:t>
            </a:r>
          </a:p>
          <a:p>
            <a:pPr algn="l">
              <a:lnSpc>
                <a:spcPts val="3600"/>
              </a:lnSpc>
            </a:pPr>
            <a:r>
              <a:rPr lang="en-US" sz="3000">
                <a:solidFill>
                  <a:srgbClr val="000000"/>
                </a:solidFill>
                <a:latin typeface="Arial"/>
                <a:ea typeface="Arial"/>
                <a:cs typeface="Arial"/>
                <a:sym typeface="Arial"/>
              </a:rPr>
              <a:t>• </a:t>
            </a:r>
            <a:r>
              <a:rPr lang="en-US" sz="3000" b="true">
                <a:solidFill>
                  <a:srgbClr val="000000"/>
                </a:solidFill>
                <a:latin typeface="Arial Bold"/>
                <a:ea typeface="Arial Bold"/>
                <a:cs typeface="Arial Bold"/>
                <a:sym typeface="Arial Bold"/>
              </a:rPr>
              <a:t>Automated Irrigation Management</a:t>
            </a:r>
            <a:r>
              <a:rPr lang="en-US" sz="3000">
                <a:solidFill>
                  <a:srgbClr val="000000"/>
                </a:solidFill>
                <a:latin typeface="Arial"/>
                <a:ea typeface="Arial"/>
                <a:cs typeface="Arial"/>
                <a:sym typeface="Arial"/>
              </a:rPr>
              <a:t> – Optimize water usage through smart irrigation and soil moisture monitoring.</a:t>
            </a:r>
          </a:p>
          <a:p>
            <a:pPr algn="l">
              <a:lnSpc>
                <a:spcPts val="3600"/>
              </a:lnSpc>
            </a:pPr>
            <a:r>
              <a:rPr lang="en-US" sz="3000">
                <a:solidFill>
                  <a:srgbClr val="000000"/>
                </a:solidFill>
                <a:latin typeface="Arial"/>
                <a:ea typeface="Arial"/>
                <a:cs typeface="Arial"/>
                <a:sym typeface="Arial"/>
              </a:rPr>
              <a:t>• </a:t>
            </a:r>
            <a:r>
              <a:rPr lang="en-US" sz="3000" b="true">
                <a:solidFill>
                  <a:srgbClr val="000000"/>
                </a:solidFill>
                <a:latin typeface="Arial Bold"/>
                <a:ea typeface="Arial Bold"/>
                <a:cs typeface="Arial Bold"/>
                <a:sym typeface="Arial Bold"/>
              </a:rPr>
              <a:t>Market &amp; Financial Integration</a:t>
            </a:r>
            <a:r>
              <a:rPr lang="en-US" sz="3000">
                <a:solidFill>
                  <a:srgbClr val="000000"/>
                </a:solidFill>
                <a:latin typeface="Arial"/>
                <a:ea typeface="Arial"/>
                <a:cs typeface="Arial"/>
                <a:sym typeface="Arial"/>
              </a:rPr>
              <a:t> – Provide updated market prices, cost analysis, and relevant government scheme information.</a:t>
            </a:r>
          </a:p>
          <a:p>
            <a:pPr algn="l">
              <a:lnSpc>
                <a:spcPts val="3600"/>
              </a:lnSpc>
            </a:pPr>
            <a:r>
              <a:rPr lang="en-US" sz="3000">
                <a:solidFill>
                  <a:srgbClr val="000000"/>
                </a:solidFill>
                <a:latin typeface="Arial"/>
                <a:ea typeface="Arial"/>
                <a:cs typeface="Arial"/>
                <a:sym typeface="Arial"/>
              </a:rPr>
              <a:t>• </a:t>
            </a:r>
            <a:r>
              <a:rPr lang="en-US" sz="3000" b="true">
                <a:solidFill>
                  <a:srgbClr val="000000"/>
                </a:solidFill>
                <a:latin typeface="Arial Bold"/>
                <a:ea typeface="Arial Bold"/>
                <a:cs typeface="Arial Bold"/>
                <a:sym typeface="Arial Bold"/>
              </a:rPr>
              <a:t>Scalable Multi-Agent System</a:t>
            </a:r>
            <a:r>
              <a:rPr lang="en-US" sz="3000">
                <a:solidFill>
                  <a:srgbClr val="000000"/>
                </a:solidFill>
                <a:latin typeface="Arial"/>
                <a:ea typeface="Arial"/>
                <a:cs typeface="Arial"/>
                <a:sym typeface="Arial"/>
              </a:rPr>
              <a:t> – Expand with specialized agents for soil health, crop insurance, and climate-risk assessment.</a:t>
            </a:r>
          </a:p>
        </p:txBody>
      </p:sp>
      <p:sp>
        <p:nvSpPr>
          <p:cNvPr name="TextBox 4" id="4"/>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46236" y="1847850"/>
            <a:ext cx="13979614" cy="7466514"/>
            <a:chOff x="0" y="0"/>
            <a:chExt cx="18639485" cy="9955352"/>
          </a:xfrm>
        </p:grpSpPr>
        <p:sp>
          <p:nvSpPr>
            <p:cNvPr name="Freeform 3" id="3"/>
            <p:cNvSpPr/>
            <p:nvPr/>
          </p:nvSpPr>
          <p:spPr>
            <a:xfrm flipH="false" flipV="false" rot="0">
              <a:off x="0" y="0"/>
              <a:ext cx="18639537" cy="9955403"/>
            </a:xfrm>
            <a:custGeom>
              <a:avLst/>
              <a:gdLst/>
              <a:ahLst/>
              <a:cxnLst/>
              <a:rect r="r" b="b" t="t" l="l"/>
              <a:pathLst>
                <a:path h="9955403" w="18639537">
                  <a:moveTo>
                    <a:pt x="0" y="0"/>
                  </a:moveTo>
                  <a:lnTo>
                    <a:pt x="18639537" y="0"/>
                  </a:lnTo>
                  <a:lnTo>
                    <a:pt x="18639537" y="9955403"/>
                  </a:lnTo>
                  <a:lnTo>
                    <a:pt x="0" y="9955403"/>
                  </a:lnTo>
                  <a:lnTo>
                    <a:pt x="0" y="0"/>
                  </a:lnTo>
                  <a:close/>
                </a:path>
              </a:pathLst>
            </a:custGeom>
            <a:blipFill>
              <a:blip r:embed="rId2"/>
              <a:stretch>
                <a:fillRect l="0" t="0" r="0" b="-39555"/>
              </a:stretch>
            </a:blipFill>
          </p:spPr>
        </p:sp>
      </p:grpSp>
      <p:sp>
        <p:nvSpPr>
          <p:cNvPr name="TextBox 4" id="4"/>
          <p:cNvSpPr txBox="true"/>
          <p:nvPr/>
        </p:nvSpPr>
        <p:spPr>
          <a:xfrm rot="0">
            <a:off x="583368" y="328212"/>
            <a:ext cx="8961120" cy="95279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Certificates Earned:</a:t>
            </a:r>
          </a:p>
          <a:p>
            <a:pPr algn="ctr">
              <a:lnSpc>
                <a:spcPts val="432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9250" y="1562100"/>
            <a:ext cx="12907918" cy="7994723"/>
            <a:chOff x="0" y="0"/>
            <a:chExt cx="17210557" cy="10659631"/>
          </a:xfrm>
        </p:grpSpPr>
        <p:sp>
          <p:nvSpPr>
            <p:cNvPr name="Freeform 3" id="3"/>
            <p:cNvSpPr/>
            <p:nvPr/>
          </p:nvSpPr>
          <p:spPr>
            <a:xfrm flipH="false" flipV="false" rot="0">
              <a:off x="0" y="0"/>
              <a:ext cx="17210532" cy="10659618"/>
            </a:xfrm>
            <a:custGeom>
              <a:avLst/>
              <a:gdLst/>
              <a:ahLst/>
              <a:cxnLst/>
              <a:rect r="r" b="b" t="t" l="l"/>
              <a:pathLst>
                <a:path h="10659618" w="17210532">
                  <a:moveTo>
                    <a:pt x="0" y="0"/>
                  </a:moveTo>
                  <a:lnTo>
                    <a:pt x="17210532" y="0"/>
                  </a:lnTo>
                  <a:lnTo>
                    <a:pt x="17210532" y="10659618"/>
                  </a:lnTo>
                  <a:lnTo>
                    <a:pt x="0" y="10659618"/>
                  </a:lnTo>
                  <a:lnTo>
                    <a:pt x="0" y="0"/>
                  </a:lnTo>
                  <a:close/>
                </a:path>
              </a:pathLst>
            </a:custGeom>
            <a:blipFill>
              <a:blip r:embed="rId2"/>
              <a:stretch>
                <a:fillRect l="-3277" t="0" r="-3277" b="-4792"/>
              </a:stretch>
            </a:blipFill>
          </p:spPr>
        </p:sp>
      </p:grpSp>
      <p:sp>
        <p:nvSpPr>
          <p:cNvPr name="TextBox 4" id="4"/>
          <p:cNvSpPr txBox="true"/>
          <p:nvPr/>
        </p:nvSpPr>
        <p:spPr>
          <a:xfrm rot="0">
            <a:off x="356483" y="356730"/>
            <a:ext cx="8961120" cy="95279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Certificates Earned:</a:t>
            </a:r>
            <a:r>
              <a:rPr lang="en-US" sz="3600">
                <a:solidFill>
                  <a:srgbClr val="000000"/>
                </a:solidFill>
                <a:latin typeface="Arial"/>
                <a:ea typeface="Arial"/>
                <a:cs typeface="Arial"/>
                <a:sym typeface="Arial"/>
              </a:rPr>
              <a:t>​</a:t>
            </a:r>
          </a:p>
          <a:p>
            <a:pPr algn="ctr">
              <a:lnSpc>
                <a:spcPts val="4320"/>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285449"/>
            <a:ext cx="18288000" cy="3716093"/>
            <a:chOff x="0" y="0"/>
            <a:chExt cx="24384000" cy="4954791"/>
          </a:xfrm>
        </p:grpSpPr>
        <p:sp>
          <p:nvSpPr>
            <p:cNvPr name="Freeform 3" id="3"/>
            <p:cNvSpPr/>
            <p:nvPr/>
          </p:nvSpPr>
          <p:spPr>
            <a:xfrm flipH="false" flipV="false" rot="0">
              <a:off x="0" y="0"/>
              <a:ext cx="24384000" cy="4954778"/>
            </a:xfrm>
            <a:custGeom>
              <a:avLst/>
              <a:gdLst/>
              <a:ahLst/>
              <a:cxnLst/>
              <a:rect r="r" b="b" t="t" l="l"/>
              <a:pathLst>
                <a:path h="4954778" w="24384000">
                  <a:moveTo>
                    <a:pt x="0" y="0"/>
                  </a:moveTo>
                  <a:lnTo>
                    <a:pt x="24384000" y="0"/>
                  </a:lnTo>
                  <a:lnTo>
                    <a:pt x="24384000" y="4954778"/>
                  </a:lnTo>
                  <a:lnTo>
                    <a:pt x="0" y="4954778"/>
                  </a:lnTo>
                  <a:lnTo>
                    <a:pt x="0" y="0"/>
                  </a:lnTo>
                  <a:close/>
                </a:path>
              </a:pathLst>
            </a:custGeom>
            <a:blipFill>
              <a:blip r:embed="rId3"/>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DAHYAg2xWfk</dc:identifier>
  <dcterms:modified xsi:type="dcterms:W3CDTF">2011-08-01T06:04:30Z</dcterms:modified>
  <cp:revision>1</cp:revision>
  <dc:title>PRAJWAL.B.R.pptx</dc:title>
</cp:coreProperties>
</file>